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primeira versão executável do estudo: a técnica 2 (Huff + 2SFCA com metaheurística bi-objetivo) rodando ponta a ponta sobre dados reais do município de São Paulo.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2SFCA tem duas etapas: primeiro a razão oferta/demanda em cada base, depois a soma ponderada dessas razões vista de cada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Equidade neste trabalho é uma coisa só: o Gini da acessibilidade avançada entre setores censitários. Não é cobertura — a cobertura satura em 98,2% na capital e não separa configuração nenhuma — e não é tempo. E há dois defaults diferentes no deck — a rede que o SAMU opera hoje, que é a referência de ganho, e o p-median, que é o comparador metodológico.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que reformula a contribuição do trabalho. A novidade defensável é a dimensão de equidade com custo de mudança, não redução de tempo de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DA DISCIPLINA MAI5003 — PROBABILIDADE E ESTATÍSTICA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 versão do estudo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78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9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Realocação de USB e USA com Huff + 2SFCA bi-objetivo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127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2 do levantamento anterior, aplicada ao município de São Paulo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892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Henrique Brasil Ribeiro • Coordenador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Oliveira • nUSP 11932272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Próspero Santana • nUSP 11320731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Martinuzzo • nUSP 11930158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de Tulio • nUSP 11371291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até esta versão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93008" cy="3200400"/>
          </a:xfrm>
          <a:prstGeom prst="roundRect">
            <a:avLst>
              <a:gd name="adj" fmla="val 28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84248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5328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nacional concluída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95351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5.522 unidades públicas ativas, 3.710 USB para 885 USA. Gini da frota avançada em 0,67 contra 0,54 da básica — a desigualdade é o problema, não o volume.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691640"/>
            <a:ext cx="3493008" cy="3200400"/>
          </a:xfrm>
          <a:prstGeom prst="roundRect">
            <a:avLst>
              <a:gd name="adj" fmla="val 28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84248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328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técnicas avaliadas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5351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RL/GNN, Huff+2SFCA, ADNet multi-período e BOMCLP-C. A técnica 2 venceu por abandonar a suposição de que o usuário é sempre atendido pela unidade mais próxima.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91856" y="1691640"/>
            <a:ext cx="3493008" cy="3200400"/>
          </a:xfrm>
          <a:prstGeom prst="roundRect">
            <a:avLst>
              <a:gd name="adj" fmla="val 28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984248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84464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5328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controlado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95351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capital: uma cidade, uma malha viária, 123 ambulâncias. Escala pequena o bastante para iterar e grande o bastante para ser um caso real.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2303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Objetivo: aplicar uma técnica recente de otimização geográfica, ainda não usada em USB/USA, a um caso real brasileiro.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TÉCNICA EMPREGADA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 + 2SFCA hierárquico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técnica substitui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38528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clássico: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setor é atendido pela unidade mais próxima. É o que o protótipo do grupo faz hoje.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Huff: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setor se reparte entre as unidades ao alcance, com probabilidade proporcional à atratividade da base e ao decaimento com o tempo de viagem. Essa probabilidade entra como peso nas duas etapas do 2SFCA.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206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4,5 min deixa cada setor com 2,2 unidades efetivas — a leitura operacional de “a mais próxima disponível”.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572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hierarquia do SAMU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75104"/>
            <a:ext cx="5440680" cy="1115568"/>
          </a:xfrm>
          <a:prstGeom prst="roundRect">
            <a:avLst>
              <a:gd name="adj" fmla="val 8197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121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avançado — 10% dos chamados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3230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Gravidade que exige médico e desfibrilador. Só USA atende.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3273552"/>
            <a:ext cx="5440680" cy="1115568"/>
          </a:xfrm>
          <a:prstGeom prst="roundRect">
            <a:avLst>
              <a:gd name="adj" fmla="val 8197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3419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básico — 90% dos chamados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73075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entre USB e USA. A USA que atende um chamado básico fica indisponível para o avançado.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5047488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5212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a razão em cada base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550468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as ambulâncias do local pela demanda que o Huff manda para lá. É onde a capacidade entra no modelo.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6208" y="5047488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0528" y="5212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o índice de cada setor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550468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essas razões vistas do setor, com o mesmo peso de escolha. O resultado é a acessibilidade.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OTIMIZAÇÃO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rede é redesenhada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64240" cy="1152144"/>
          </a:xfrm>
          <a:prstGeom prst="roundRect">
            <a:avLst>
              <a:gd name="adj" fmla="val 793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99339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178308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com codificação inteira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21122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gene por ambulância, 123 ao todo, apontando o candidato que a hospeda. Mutação local salta para uma base vizinha; repetição permitida, então o otimizador pode concentrar.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953512"/>
            <a:ext cx="11064240" cy="1152144"/>
          </a:xfrm>
          <a:prstGeom prst="roundRect">
            <a:avLst>
              <a:gd name="adj" fmla="val 793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331927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27048" y="31089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objetivos em conflito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27048" y="34381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o tempo esperado de resposta e o Gini da acessibilidade avançada. Sozinho, cada um degenera: a acessibilidade agregada é constante e o Gini zera concentrando tudo num ponto.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279392"/>
            <a:ext cx="11064240" cy="1152144"/>
          </a:xfrm>
          <a:prstGeom prst="roundRect">
            <a:avLst>
              <a:gd name="adj" fmla="val 7937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4645152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27048" y="443484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da mudança (λ)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27048" y="476402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Quilômetros que a frota percorre para assumir a nova configuração, por emparelhamento ótimo entre origens e destinos. λ converte km em minutos e entra no objetivo.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650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o custo de mudança, toda a fronteira realocava 123 das 123 unidades — matematicamente ótimo e inútil como recomendação.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MÉTRICAS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os números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264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default: duas linhas de base distintas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5394960" cy="1261872"/>
          </a:xfrm>
          <a:prstGeom prst="roundRect">
            <a:avLst>
              <a:gd name="adj" fmla="val 7246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83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— a rede de hoje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17627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123 ambulâncias onde o SAMU as mantém: 107 USB e 16 USA distribuídas em 92 dos 1.107 locais possíveis. É contra ela que todo ganho é medido.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97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7,44 min   •   Gini 0,224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755648"/>
            <a:ext cx="5394960" cy="1261872"/>
          </a:xfrm>
          <a:prstGeom prst="roundRect">
            <a:avLst>
              <a:gd name="adj" fmla="val 7246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883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Metodológico — o p-median clássico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217627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frota realocada pela regra da unidade mais próxima, que ignora capacidade. É o comparador que diz o que a técnica 2 acrescenta.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2697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6,70 min   •   Gini 0,079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1455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métricas, e o que cada uma mede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38144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858000"/>
                <a:gridCol w="1463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mede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E[T] — tempo esperado de resposta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de viagem da base até o setor, em média ponderada pela população e pelos dois pools de gravidade. Não inclui regulação, despacho nem tempo em cena.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7,44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até a mais próxima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até a unidade mais próxima, sem repartir a demanda. É o objetivo do p-median e a métrica clássica de tempo-resposta.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8,84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C(20) — cobertura em 20 minutos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Fração da população com uma USA a ≤ 20 min. Satura dentro da capital, onde já é 98,2%; no país inteiro era 66,4% e ali discriminava.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G(A) — Gini da acessibilidade avançada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Desigualdade, entre os 26.889 setores, da fatia de USA por habitante ao alcance do setor. Vai de 0 — todos com a mesma fatia — a 1, tudo concentrado. É esta a definição de equidade do trabalho.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da mudança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Quantas unidades saem do lugar e quantos quilômetros a frota percorre para assumir a nova configuração, pelo melhor emparelhamento entre origens e destinos.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66928" y="596188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gente, a cobertura ainda diz algo: os 201 mil paulistanos hoje a mais de 20 minutos de uma USA caem para 160 mil com λ = 1 e para 72 mil com λ = 0,1 — 64% a menos.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assumido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883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Gravidade fixa em 10%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1396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0,10 dos chamados exige suporte avançado. Valor arbitrado, não estimado de dado de ocorrência.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645920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0195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883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= população residente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1396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setor demanda na proporção de seus moradores no Censo 2022. Sem perfil etário nem incidência de agravos.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182112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38144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419856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Decaimento gaussiano, β = 4,5 min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675888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Ancorado no despacho (2,2 unidades efetivas por setor), não estimado de escolha observada.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182112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438144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419856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= equipamento público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675888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ambulância só pode ser baseada onde já há UBS, UPA, hospital ou base do SAMU: 1.107 pontos.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718304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974336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495604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viária em fluxo livre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89888" y="5212080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 do OpenStreetMap sem trânsito, sem hora de pico e sem prioridade de sirene.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6208" y="4718304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974336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495604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constante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5212080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unidades, 107 USB e 16 USA. O estudo realoca; não propõe compra nem corte.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589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público, tudo reconstruível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26.889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censitários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habitados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816352" y="1874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11,45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2816352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(Censo 2022)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65776" y="1874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1.107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5065776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a base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(CNES)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874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ambulâncias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USB + 16 USA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564624" y="1874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122.830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9564624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da malha viária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(OpenStreetMap)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886200"/>
            <a:ext cx="11064240" cy="1481328"/>
          </a:xfrm>
          <a:prstGeom prst="roundRect">
            <a:avLst>
              <a:gd name="adj" fmla="val 61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069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tempo de viagem setor × candidato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4389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a partir de cada uma das 1.107 bases candidatas sobre a rede viária de São Paulo, com corte em 60 minutos. Na limpeza, 23 registros do CNES apareceram com uma coordenada de fábrica errada a 17 km da malha — o “CECO Parque Ibirapuera” entre eles. Todos descartados.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vai da coleta bruta à matriz sem intervenção manual; a avaliação de uma configuração leva 10,5 ms.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fronteiras, um orçamento de mudança cada</a:t>
            </a:r>
            <a:endParaRPr lang="en-US" sz="3200" dirty="0"/>
          </a:p>
        </p:txBody>
      </p:sp>
      <p:pic>
        <p:nvPicPr>
          <p:cNvPr id="4" name="Image 0" descr="/home/claude/eda/figs/sp_01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6675120" cy="4251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98080" y="17373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curva é o que se consegue quando a mudança custa λ. Quanto mais cara, mais a fronteira recua para a direita — pior tempo para o mesmo nível de equidade.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498080" y="30175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54112" y="318211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configuração atual está fora de qualquer fronteira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54112" y="367588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ganho simultâneo de tempo e de equidade disponível — não é um trade-off entre os dois.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4526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p-median clássico já captura boa parte disso — ponto laranja.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Doze unidades e 39 km cortam 62% da desigualdade</a:t>
            </a:r>
            <a:endParaRPr lang="en-US" sz="3200" dirty="0"/>
          </a:p>
        </p:txBody>
      </p:sp>
      <p:pic>
        <p:nvPicPr>
          <p:cNvPr id="4" name="Image 0" descr="/home/claude/eda/figs/sp_02_ganho_k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64208"/>
            <a:ext cx="6583680" cy="2980944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3488" y="1691640"/>
          <a:ext cx="4261104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"/>
                <a:gridCol w="731520"/>
                <a:gridCol w="115214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E[T]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por chamado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movidas / 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39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0,3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/ 103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0,1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−46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/ 293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−48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/ 385 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33488" y="3657600"/>
            <a:ext cx="4261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12 das 123 unidades, 39 km no total, derruba o Gini de 0,224 para 0,085 — 62% do ganho de equidade com 10% do deslocamento.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7333488" y="4590288"/>
            <a:ext cx="4261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tempo, essas doze mudanças devolvem só 8 s por chamado: o que elas compram é equidade.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7333488" y="5212080"/>
            <a:ext cx="4261104" cy="1207008"/>
          </a:xfrm>
          <a:prstGeom prst="roundRect">
            <a:avLst>
              <a:gd name="adj" fmla="val 7576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589520" y="5358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λ = 0,1, se o ganho é maior?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563270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é melhor nos dois eixos, mas move 110 das 123 unidades e 293 km — é redesenhar a rede, não realocar. λ = 1 entrega 70% daquele ganho de equidade com 13% do deslocamento.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4937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no redesenho livre, cada unidade anda só 3,1 km em média: a realocação é um salto para a esquina, não uma travessia da cidade.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doze realocações que mais rendem</a:t>
            </a:r>
            <a:endParaRPr lang="en-US" sz="3200" dirty="0"/>
          </a:p>
        </p:txBody>
      </p:sp>
      <p:pic>
        <p:nvPicPr>
          <p:cNvPr id="4" name="Image 0" descr="/home/claude/eda/figs/sp_03_mapa_tro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4526280" cy="4233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62763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λ = 1 — mudança cara — o otimizador escolhe doze movimentos e nada mais. O padrão é geográfico e nítido: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577840" y="2606040"/>
            <a:ext cx="6035040" cy="1207008"/>
          </a:xfrm>
          <a:prstGeom prst="roundRect">
            <a:avLst>
              <a:gd name="adj" fmla="val 7576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770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USA migram para a periferia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09981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Saem do centro expandido em direção ao leste e ao sul, onde a densidade é alta e a cobertura avançada é rala.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577840" y="4023360"/>
            <a:ext cx="6035040" cy="1207008"/>
          </a:xfrm>
          <a:prstGeom prst="roundRect">
            <a:avLst>
              <a:gd name="adj" fmla="val 7576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4187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USB pulam a esquina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451713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Movimentos de poucas centenas de metros, para um equipamento vizinho que cobre melhor o entorno.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5440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Doze decisões administrativas, nenhuma obra, nenhuma compra.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4 — O ACHADO CENTRAL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 o baseline clássico: o que muda e o que não</a:t>
            </a:r>
            <a:endParaRPr lang="en-US" sz="3200" dirty="0"/>
          </a:p>
        </p:txBody>
      </p:sp>
      <p:pic>
        <p:nvPicPr>
          <p:cNvPr id="4" name="Image 0" descr="/home/claude/eda/figs/sp_05_compa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681228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645920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91272" y="18105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Huff quase não muda a eficiência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2340864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pela regra clássica custa só +0,4% de tempo esperado quando a demanda de fato se reparte. O p-median é robusto à hipótese de alocação.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3364992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91272" y="3529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só o 2SFCA enxerga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91272" y="385876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Capacidade. O p-median ignora quantos habitantes disputam cada base, então não vê a carga. Gini 0,025 contra 0,079 — 3,1× melhor — e com menos deslocamento: 293 km contra 373 km.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519379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aqui é a rede que o SAMU opera hoje: 7,44 min e Gini 0,224. Se o artigo prometer ganho de tempo, um revisor derruba com o próprio p-median.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exatamente o ganho de equidade aparece</a:t>
            </a:r>
            <a:endParaRPr lang="en-US" sz="3200" dirty="0"/>
          </a:p>
        </p:txBody>
      </p:sp>
      <p:pic>
        <p:nvPicPr>
          <p:cNvPr id="4" name="Image 0" descr="/home/claude/eda/figs/sp_04_lore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4206240" cy="3904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03520" y="169164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de Lorenz mostra onde o ganho de equidade aparece: nos primeiros 40% da população ordenada por acessibilidade — exatamente a parcela hoje mal servida por suporte avançado.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30632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8F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0,224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31729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atual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390448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0,079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40142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p-median clássico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474573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0,025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48554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 + 2SFCA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55046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da acessibilidade a suporte avançado, entre os 26.889 setores: 0 significa que todo habitante dispõe da mesma fatia de USA por pessoa; 1, que tudo está concentrado num setor. É esta a definição de equidade do trabalho.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 resultado ainda não sustenta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883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não é estimado, é arbitrado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1396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parâmetro governa o modelo inteiro: de β=1,5 a β=12 o tempo esperado vai de 6,5 a 13,6 min. Sem dado de escolha real, a ancoragem é argumentativa.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645920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01952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883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é inerte neste caso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1396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todo local tem uma só ambulância, então a atratividade é igual em todos. De α=1 para α=2 o tempo esperado vai de 11,78 para 11,80 min.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182112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38144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419856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fila nem ocupação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675888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2SFCA mede pressão sobre a base, não a probabilidade de a unidade estar ocupada. Um modelo de disponibilidade diria outra coisa.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182112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438144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419856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 sem trânsito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675888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malha do OSM em fluxo livre subestima o deslocamento real, e provavelmente de forma desigual pela cidade.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718304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974336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495604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Heurísticas, não ótimo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89888" y="5212080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e p-median são heurísticos. O p-median ficou 1,15% acima do ótimo exato em instâncias pequenas; no tamanho real não há garantia.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6208" y="4718304"/>
            <a:ext cx="5394960" cy="1353312"/>
          </a:xfrm>
          <a:prstGeom prst="roundRect">
            <a:avLst>
              <a:gd name="adj" fmla="val 6757"/>
            </a:avLst>
          </a:prstGeom>
          <a:solidFill>
            <a:srgbClr val="F3EDE9"/>
          </a:solidFill>
          <a:ln w="12700">
            <a:solidFill>
              <a:srgbClr val="F3ED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974336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4974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495604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município, não a rede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5212080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é denso e bem servido. Nada aqui se transfere direto para o estado, que é onde a desigualdade da EDA aparecia.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EVOLUÇÃO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onde seguir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4533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 em β — o mais urgente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19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 varredura de λ para β ∈ {2, 4, 6, 8,5} e mostrar se o achado de equidade sobrevive. Enquanto não existir, é a crítica mais fácil de fazer ao trabalho.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4460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4460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185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da USA em faixas curtas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929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 min a capital satura — 98,2% hoje, 99,4% realocada — e a métrica quase não separa configurações. Abaixo de 10 min ela volta a discriminar, e é a leitura mais direta para quem chega de fora. O pipeline já calcula: falta só variar τ.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1927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918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incidência, não por população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5661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Ponderar o setor pelo perfil etário e pela incidência de agravos. É a ponte natural para o modelo bayesiano CAR/ICAR já previsto como fase 2.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192524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1925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650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para o estado com a técnica 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4394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é o piloto. O gargalo de escala para uma rede estadual é exatamente o que o RL/GNN resolve, e a técnica 2 lhe dá o modelo de demanda.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065776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03834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em vez de pressão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3126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proxy de carga do 2SFCA por um modelo de fila, para responder “qual a chance de a unidade estar livre” e não só “quantos disputam esta base”.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939028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59390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9115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ADNet multi-período como extensão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618591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reconstruir a série histórica do CNES, mas é o único caminho para modelar realocação como decisão ao longo do tempo, e não como foto.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6692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PRÉVIAS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dá para afirmar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4708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realocação é local e barata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30552"/>
            <a:ext cx="8869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 unidades percorrendo 39 km ao todo cortam 62% da desigualdade de acesso a suporte avançado — e devolvem 8 s por chamado. Nenhuma obra, nenhuma compra: doze decisões administrativas.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92608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986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demanda não compra eficiência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82112"/>
            <a:ext cx="8869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pela regra clássica da unidade mais próxima custa apenas +0,4% de tempo esperado. O p-median é robusto à hipótese que a técnica 2 se propunha a derrubar.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97764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95020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real, e verificável, é equidade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233672"/>
            <a:ext cx="8869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da acessibilidade avançada de 0,224 para 0,025, contra 0,079 do p-median, e com menos deslocamento — com o tempo esperado caindo 0,77 min (46 s) por chamado. A capacidade disputada é o que só o 2SFCA enxerga.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5029200"/>
            <a:ext cx="420624" cy="42062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0017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 defensável mudou de lugar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85232"/>
            <a:ext cx="8869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“chegamos mais rápido” — o p-median já entrega o mesmo tempo. É “distribuímos a carga de forma muito mais equânime, pelo mesmo tempo de resposta e com menos mudança”.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1996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dados e figuras reprodutíveis em sp/ — cada módulo roda o próprio teste.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Realocação de USB e USA em São Paulo</dc:title>
  <dc:subject>PptxGenJS Presentation</dc:subject>
  <dc:creator>Grupo MAI5003</dc:creator>
  <cp:lastModifiedBy>Grupo MAI5003</cp:lastModifiedBy>
  <cp:revision>1</cp:revision>
  <dcterms:created xsi:type="dcterms:W3CDTF">2026-09-13T22:46:04Z</dcterms:created>
  <dcterms:modified xsi:type="dcterms:W3CDTF">2026-09-13T22:46:04Z</dcterms:modified>
</cp:coreProperties>
</file>