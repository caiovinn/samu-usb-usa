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3.xml" ContentType="application/vnd.ms-office.chartcolorstyle+xml"/>
  <Override PartName="/ppt/charts/style2.xml" ContentType="application/vnd.ms-office.chartstyl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3.xml" ContentType="application/vnd.ms-office.chartstyle+xml"/>
  <Override PartName="/ppt/charts/chart4.xml" ContentType="application/vnd.openxmlformats-officedocument.drawingml.chart+xml"/>
  <Override PartName="/ppt/charts/colors5.xml" ContentType="application/vnd.ms-office.chartcolorstyle+xml"/>
  <Override PartName="/ppt/charts/style4.xml" ContentType="application/vnd.ms-office.chartstyle+xml"/>
  <Override PartName="/ppt/charts/style5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</p:sldIdLst>
  <p:sldSz cx="12192000" cy="6858000"/>
  <p:notesSz cx="6858000" cy="12192000"/>
  <p:extLst>
    <p:ext uri="{521415D9-36F7-43E2-AB2F-B90AF26B5E84}">
      <p14:sectionLst xmlns:p14="http://schemas.microsoft.com/office/powerpoint/2010/main">
        <p14:section name="Abertura" id="{29517a48-2eeb-103c-8140-887f864c78a0}">
          <p14:sldIdLst>
            <p14:sldId id="256"/>
            <p14:sldId id="257"/>
            <p14:sldId id="258"/>
            <p14:sldId id="259"/>
          </p14:sldIdLst>
        </p14:section>
        <p14:section name="Por que não o Huff" id="{ae393ef1-8c1b-a386-486c-ebc4ffc7c4df}">
          <p14:sldIdLst>
            <p14:sldId id="260"/>
            <p14:sldId id="261"/>
          </p14:sldIdLst>
        </p14:section>
        <p14:section name="O modelo" id="{ade28c78-b542-9961-a3bd-5fb2a8ee821e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sultados" id="{7652a95f-82d9-e31b-2ac9-b0ce079e6d86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Conferência" id="{6602ec9f-ebad-e488-7ba1-db167c39cc2c}">
          <p14:sldIdLst>
            <p14:sldId id="275"/>
            <p14:sldId id="276"/>
            <p14:sldId id="277"/>
            <p14:sldId id="278"/>
            <p14:sldId id="279"/>
          </p14:sldIdLst>
        </p14:section>
        <p14:section name="Fechamento" id="{e0ed36d8-42b4-f9ee-6dfd-651c2927abe3}">
          <p14:sldIdLst>
            <p14:sldId id="280"/>
            <p14:sldId id="281"/>
            <p14:sldId id="282"/>
            <p14:sldId id="28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_rels/chart2.xml.rels><?xml version="1.0" encoding="UTF-8"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
</Relationships>
</file>

<file path=ppt/charts/_rels/chart3.xml.rels><?xml version="1.0" encoding="UTF-8"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
</Relationships>
</file>

<file path=ppt/charts/_rels/chart4.xml.rels><?xml version="1.0" encoding="UTF-8"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
</Relationships>
</file>

<file path=ppt/charts/_rels/chart5.xml.rels><?xml version="1.0" encoding="UTF-8"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title>
      <c:tx>
        <c:rich>
          <a:bodyPr rot="0"/>
          <a:lstStyle/>
          <a:p>
            <a:pPr>
              <a:defRPr sz="1300" b="0" u="none" strike="noStrike">
                <a:solidFill>
                  <a:srgbClr val="000000"/>
                </a:solidFill>
                <a:uFillTx/>
                <a:latin typeface="Arial"/>
              </a:defRPr>
            </a:pPr>
            <a:r>
              <a:rPr sz="1300" b="0" u="none" strike="noStrike">
                <a:solidFill>
                  <a:srgbClr val="0F2B46"/>
                </a:solidFill>
                <a:uFillTx/>
                <a:latin typeface="Calibri"/>
              </a:rPr>
              <a:t>chance de sobreviver (%) × minutos até o desfibrilador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sobrevida</c:v>
                </c:pt>
              </c:strCache>
            </c:strRef>
          </c:tx>
          <c:spPr>
            <a:ln w="38160">
              <a:solidFill>
                <a:srgbClr val="2E7D5A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sz="12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1"/>
                <c:pt idx="0">
                  <c:v>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4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6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8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10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12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14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16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18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20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1"/>
                <c:pt idx="0">
                  <c:v>33.648452876678</c:v>
                </c:pt>
                <c:pt idx="1">
                  <c:v>30.7890495698212</c:v>
                </c:pt>
                <c:pt idx="2">
                  <c:v>28.0698391507737</c:v>
                </c:pt>
                <c:pt idx="3">
                  <c:v>25.502292557295</c:v>
                </c:pt>
                <c:pt idx="4">
                  <c:v>23.09419631542</c:v>
                </c:pt>
                <c:pt idx="5">
                  <c:v>20.849848803336</c:v>
                </c:pt>
                <c:pt idx="6">
                  <c:v>18.7703779189513</c:v>
                </c:pt>
                <c:pt idx="7">
                  <c:v>16.8541412740155</c:v>
                </c:pt>
                <c:pt idx="8">
                  <c:v>15.097171500435</c:v>
                </c:pt>
                <c:pt idx="9">
                  <c:v>13.4936338591554</c:v>
                </c:pt>
                <c:pt idx="10">
                  <c:v>12.0362697798669</c:v>
                </c:pt>
                <c:pt idx="11">
                  <c:v>10.7168070486528</c:v>
                </c:pt>
                <c:pt idx="12">
                  <c:v>9.52632418520543</c:v>
                </c:pt>
                <c:pt idx="13">
                  <c:v>8.45556251012268</c:v>
                </c:pt>
                <c:pt idx="14">
                  <c:v>7.49518418772124</c:v>
                </c:pt>
                <c:pt idx="15">
                  <c:v>6.63597806521644</c:v>
                </c:pt>
                <c:pt idx="16">
                  <c:v>5.86901749920912</c:v>
                </c:pt>
                <c:pt idx="17">
                  <c:v>5.18577574053147</c:v>
                </c:pt>
                <c:pt idx="18">
                  <c:v>4.57820505055995</c:v>
                </c:pt>
                <c:pt idx="19">
                  <c:v>4.0387857567252</c:v>
                </c:pt>
                <c:pt idx="20">
                  <c:v>3.5605511089583</c:v>
                </c:pt>
                <c:pt idx="21">
                  <c:v>3.13709322481939</c:v>
                </c:pt>
                <c:pt idx="22">
                  <c:v>2.76255472535741</c:v>
                </c:pt>
                <c:pt idx="23">
                  <c:v>2.43160994924684</c:v>
                </c:pt>
                <c:pt idx="24">
                  <c:v>2.13943894428758</c:v>
                </c:pt>
                <c:pt idx="25">
                  <c:v>1.88169680582164</c:v>
                </c:pt>
                <c:pt idx="26">
                  <c:v>1.65448037770665</c:v>
                </c:pt>
                <c:pt idx="27">
                  <c:v>1.45429385863706</c:v>
                </c:pt>
                <c:pt idx="28">
                  <c:v>1.27801446296987</c:v>
                </c:pt>
                <c:pt idx="29">
                  <c:v>1.12285896461404</c:v>
                </c:pt>
                <c:pt idx="30">
                  <c:v>0.986351696597764</c:v>
                </c:pt>
                <c:pt idx="31">
                  <c:v>0.866294378481316</c:v>
                </c:pt>
                <c:pt idx="32">
                  <c:v>0.760737989819647</c:v>
                </c:pt>
                <c:pt idx="33">
                  <c:v>0.667956792057232</c:v>
                </c:pt>
                <c:pt idx="34">
                  <c:v>0.586424516155422</c:v>
                </c:pt>
                <c:pt idx="35">
                  <c:v>0.514792672541549</c:v>
                </c:pt>
                <c:pt idx="36">
                  <c:v>0.451870898280967</c:v>
                </c:pt>
                <c:pt idx="37">
                  <c:v>0.396609229302707</c:v>
                </c:pt>
                <c:pt idx="38">
                  <c:v>0.348082169487855</c:v>
                </c:pt>
                <c:pt idx="39">
                  <c:v>0.305474420608228</c:v>
                </c:pt>
                <c:pt idx="40">
                  <c:v>0.268068135237044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78585504"/>
        <c:axId val="58290030"/>
      </c:lineChart>
      <c:catAx>
        <c:axId val="7858550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4A5568"/>
                </a:solidFill>
                <a:uFillTx/>
                <a:latin typeface="Calibri"/>
              </a:defRPr>
            </a:pPr>
          </a:p>
        </c:txPr>
        <c:crossAx val="58290030"/>
        <c:crosses val="autoZero"/>
        <c:auto val="1"/>
        <c:lblAlgn val="ctr"/>
        <c:lblOffset val="100"/>
        <c:noMultiLvlLbl val="0"/>
      </c:catAx>
      <c:valAx>
        <c:axId val="58290030"/>
        <c:scaling>
          <c:orientation val="minMax"/>
          <c:min val="0"/>
        </c:scaling>
        <c:delete val="0"/>
        <c:axPos val="l"/>
        <c:majorGridlines>
          <c:spPr>
            <a:ln w="6480">
              <a:solidFill>
                <a:srgbClr val="E3E0D8"/>
              </a:solidFill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4A5568"/>
                </a:solidFill>
                <a:uFillTx/>
                <a:latin typeface="Calibri"/>
              </a:defRPr>
            </a:pPr>
          </a:p>
        </c:txPr>
        <c:crossAx val="78585504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8A8F98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8A8F98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EB6834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EB6834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EB683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EB6834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EB6834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EB6834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2A78D6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Lbls>
            <c:dLbl>
              <c:idx val="0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8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" sourceLinked="0"/>
            <c:txPr>
              <a:bodyPr wrap="square"/>
              <a:lstStyle/>
              <a:p>
                <a:pPr>
                  <a:defRPr sz="1100" b="0" u="none" strike="noStrike">
                    <a:solidFill>
                      <a:srgbClr val="0F2B46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9"/>
                <c:pt idx="0">
                  <c:v>rede de hoje</c:v>
                </c:pt>
                <c:pt idx="1">
                  <c:v>fase 2, λ=1</c:v>
                </c:pt>
                <c:pt idx="2">
                  <c:v>fase 2b, λ=1</c:v>
                </c:pt>
                <c:pt idx="3">
                  <c:v>fase 2b c/ restrição, λ=1</c:v>
                </c:pt>
                <c:pt idx="4">
                  <c:v>fase 2, λ=0,1</c:v>
                </c:pt>
                <c:pt idx="5">
                  <c:v>fase 2b c/ restrição, λ=0,1</c:v>
                </c:pt>
                <c:pt idx="6">
                  <c:v>fase 2b, λ=0,1</c:v>
                </c:pt>
                <c:pt idx="7">
                  <c:v>p-median</c:v>
                </c:pt>
                <c:pt idx="8">
                  <c:v>vidas, piso p-median (fase 3)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9"/>
                <c:pt idx="0">
                  <c:v>44.0746599092654</c:v>
                </c:pt>
                <c:pt idx="1">
                  <c:v>45.1784847554527</c:v>
                </c:pt>
                <c:pt idx="2">
                  <c:v>47.6677596377966</c:v>
                </c:pt>
                <c:pt idx="3">
                  <c:v>54.6578248119731</c:v>
                </c:pt>
                <c:pt idx="4">
                  <c:v>58.4844799394405</c:v>
                </c:pt>
                <c:pt idx="5">
                  <c:v>61.9912252409513</c:v>
                </c:pt>
                <c:pt idx="6">
                  <c:v>62.1978509553554</c:v>
                </c:pt>
                <c:pt idx="7">
                  <c:v>62.4896272311621</c:v>
                </c:pt>
                <c:pt idx="8">
                  <c:v>63.7994755185078</c:v>
                </c:pt>
              </c:numCache>
            </c:numRef>
          </c:val>
        </c:ser>
        <c:gapWidth val="45"/>
        <c:overlap val="0"/>
        <c:axId val="95408679"/>
        <c:axId val="9636521"/>
      </c:barChart>
      <c:catAx>
        <c:axId val="95408679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150" b="0" u="none" strike="noStrike">
                <a:solidFill>
                  <a:srgbClr val="4A5568"/>
                </a:solidFill>
                <a:uFillTx/>
                <a:latin typeface="Calibri"/>
              </a:defRPr>
            </a:pPr>
          </a:p>
        </c:txPr>
        <c:crossAx val="9636521"/>
        <c:crosses val="autoZero"/>
        <c:auto val="1"/>
        <c:lblAlgn val="ctr"/>
        <c:lblOffset val="100"/>
        <c:noMultiLvlLbl val="0"/>
      </c:catAx>
      <c:valAx>
        <c:axId val="9636521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95408679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8A8F98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8A8F98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2A78D6"/>
              </a:solidFill>
              <a:ln w="0">
                <a:noFill/>
              </a:ln>
            </c:spPr>
          </c:dPt>
          <c:dLbls>
            <c:dLbl>
              <c:idx val="0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" sourceLinked="0"/>
            <c:txPr>
              <a:bodyPr wrap="square"/>
              <a:lstStyle/>
              <a:p>
                <a:pPr>
                  <a:defRPr sz="1100" b="0" u="none" strike="noStrike">
                    <a:solidFill>
                      <a:srgbClr val="0F2B46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hoje</c:v>
                </c:pt>
                <c:pt idx="1">
                  <c:v>K = 10</c:v>
                </c:pt>
                <c:pt idx="2">
                  <c:v>K = 20</c:v>
                </c:pt>
                <c:pt idx="3">
                  <c:v>K = 40</c:v>
                </c:pt>
                <c:pt idx="4">
                  <c:v>K = 80</c:v>
                </c:pt>
                <c:pt idx="5">
                  <c:v>sem limite</c:v>
                </c:pt>
                <c:pt idx="6">
                  <c:v>p-median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44.0746599092654</c:v>
                </c:pt>
                <c:pt idx="1">
                  <c:v>48.1082887244116</c:v>
                </c:pt>
                <c:pt idx="2">
                  <c:v>51.3197729088942</c:v>
                </c:pt>
                <c:pt idx="3">
                  <c:v>56.145266300238</c:v>
                </c:pt>
                <c:pt idx="4">
                  <c:v>61.4064894541148</c:v>
                </c:pt>
                <c:pt idx="5">
                  <c:v>63.8932772390854</c:v>
                </c:pt>
                <c:pt idx="6">
                  <c:v>62.4896272311621</c:v>
                </c:pt>
              </c:numCache>
            </c:numRef>
          </c:val>
        </c:ser>
        <c:gapWidth val="45"/>
        <c:overlap val="0"/>
        <c:axId val="27008181"/>
        <c:axId val="68138061"/>
      </c:barChart>
      <c:catAx>
        <c:axId val="27008181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noFill/>
          </a:ln>
        </c:spPr>
        <c:txPr>
          <a:bodyPr/>
          <a:lstStyle/>
          <a:p>
            <a:pPr>
              <a:defRPr sz="1200" b="0" u="none" strike="noStrike">
                <a:solidFill>
                  <a:srgbClr val="4A5568"/>
                </a:solidFill>
                <a:uFillTx/>
                <a:latin typeface="Calibri"/>
              </a:defRPr>
            </a:pPr>
          </a:p>
        </c:txPr>
        <c:crossAx val="68138061"/>
        <c:crosses val="autoZero"/>
        <c:auto val="1"/>
        <c:lblAlgn val="ctr"/>
        <c:lblOffset val="100"/>
        <c:noMultiLvlLbl val="0"/>
      </c:catAx>
      <c:valAx>
        <c:axId val="68138061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27008181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modelo (fórmula)</c:v>
                </c:pt>
              </c:strCache>
            </c:strRef>
          </c:tx>
          <c:spPr>
            <a:solidFill>
              <a:srgbClr val="0F3D5C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F2B46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rede de hoje</c:v>
                </c:pt>
                <c:pt idx="1">
                  <c:v>fase 2, λ=0,1</c:v>
                </c:pt>
                <c:pt idx="2">
                  <c:v>vidas, λ=0, K=20</c:v>
                </c:pt>
                <c:pt idx="3">
                  <c:v>vidas, λ=0, K=40</c:v>
                </c:pt>
                <c:pt idx="4">
                  <c:v>fase 2b, λ=0,1</c:v>
                </c:pt>
                <c:pt idx="5">
                  <c:v>p-median</c:v>
                </c:pt>
                <c:pt idx="6">
                  <c:v>vidas, λ=0, sem limite · piso p-median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44.0746599092654</c:v>
                </c:pt>
                <c:pt idx="1">
                  <c:v>58.4844799394405</c:v>
                </c:pt>
                <c:pt idx="2">
                  <c:v>51.3197729088942</c:v>
                </c:pt>
                <c:pt idx="3">
                  <c:v>56.145266300238</c:v>
                </c:pt>
                <c:pt idx="4">
                  <c:v>62.1978509553553</c:v>
                </c:pt>
                <c:pt idx="5">
                  <c:v>62.4896272311621</c:v>
                </c:pt>
                <c:pt idx="6">
                  <c:v>63.7994755185078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simulação (cidade sorteada)</c:v>
                </c:pt>
              </c:strCache>
            </c:strRef>
          </c:tx>
          <c:spPr>
            <a:solidFill>
              <a:srgbClr val="D9A441"/>
            </a:solidFill>
            <a:ln w="0">
              <a:noFill/>
            </a:ln>
          </c:spPr>
          <c:invertIfNegative val="0"/>
          <c:dLbls>
            <c:numFmt formatCode="0.0" sourceLinked="0"/>
            <c:txPr>
              <a:bodyPr wrap="square"/>
              <a:lstStyle/>
              <a:p>
                <a:pPr>
                  <a:defRPr sz="1000" b="0" u="none" strike="noStrike">
                    <a:solidFill>
                      <a:srgbClr val="0F2B46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7"/>
                <c:pt idx="0">
                  <c:v>rede de hoje</c:v>
                </c:pt>
                <c:pt idx="1">
                  <c:v>fase 2, λ=0,1</c:v>
                </c:pt>
                <c:pt idx="2">
                  <c:v>vidas, λ=0, K=20</c:v>
                </c:pt>
                <c:pt idx="3">
                  <c:v>vidas, λ=0, K=40</c:v>
                </c:pt>
                <c:pt idx="4">
                  <c:v>fase 2b, λ=0,1</c:v>
                </c:pt>
                <c:pt idx="5">
                  <c:v>p-median</c:v>
                </c:pt>
                <c:pt idx="6">
                  <c:v>vidas, λ=0, sem limite · piso p-median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41.5116931203644</c:v>
                </c:pt>
                <c:pt idx="1">
                  <c:v>57.2627169377506</c:v>
                </c:pt>
                <c:pt idx="2">
                  <c:v>48.4891643811852</c:v>
                </c:pt>
                <c:pt idx="3">
                  <c:v>54.3105197691333</c:v>
                </c:pt>
                <c:pt idx="4">
                  <c:v>61.913418218773</c:v>
                </c:pt>
                <c:pt idx="5">
                  <c:v>62.0800708349411</c:v>
                </c:pt>
                <c:pt idx="6">
                  <c:v>63.8208647484472</c:v>
                </c:pt>
              </c:numCache>
            </c:numRef>
          </c:val>
        </c:ser>
        <c:gapWidth val="40"/>
        <c:overlap val="0"/>
        <c:axId val="43165773"/>
        <c:axId val="82178713"/>
      </c:barChart>
      <c:catAx>
        <c:axId val="43165773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4A5568"/>
                </a:solidFill>
                <a:uFillTx/>
                <a:latin typeface="Calibri"/>
              </a:defRPr>
            </a:pPr>
          </a:p>
        </c:txPr>
        <c:crossAx val="82178713"/>
        <c:crosses val="autoZero"/>
        <c:auto val="1"/>
        <c:lblAlgn val="ctr"/>
        <c:lblOffset val="100"/>
        <c:noMultiLvlLbl val="0"/>
      </c:catAx>
      <c:valAx>
        <c:axId val="82178713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43165773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noFill/>
    <a:ln w="0">
      <a:noFill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valor</c:v>
                </c:pt>
              </c:strCache>
            </c:strRef>
          </c:tx>
          <c:spPr>
            <a:solidFill>
              <a:srgbClr val="2E7D5A"/>
            </a:solidFill>
            <a:ln w="0">
              <a:noFill/>
            </a:ln>
          </c:spPr>
          <c:invertIfNegative val="0"/>
          <c:dPt>
            <c:idx val="0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1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2"/>
            <c:invertIfNegative val="0"/>
            <c:spPr>
              <a:solidFill>
                <a:srgbClr val="2A78D6"/>
              </a:solidFill>
              <a:ln w="0">
                <a:noFill/>
              </a:ln>
            </c:spPr>
          </c:dPt>
          <c:dPt>
            <c:idx val="3"/>
            <c:invertIfNegative val="0"/>
            <c:spPr>
              <a:solidFill>
                <a:srgbClr val="EB6834"/>
              </a:solidFill>
              <a:ln w="0">
                <a:noFill/>
              </a:ln>
            </c:spPr>
          </c:dPt>
          <c:dPt>
            <c:idx val="4"/>
            <c:invertIfNegative val="0"/>
            <c:spPr>
              <a:solidFill>
                <a:srgbClr val="EB6834"/>
              </a:solidFill>
              <a:ln w="0">
                <a:noFill/>
              </a:ln>
            </c:spPr>
          </c:dPt>
          <c:dPt>
            <c:idx val="5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6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7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8"/>
            <c:invertIfNegative val="0"/>
            <c:spPr>
              <a:solidFill>
                <a:srgbClr val="EB6834"/>
              </a:solidFill>
              <a:ln w="0">
                <a:noFill/>
              </a:ln>
            </c:spPr>
          </c:dPt>
          <c:dPt>
            <c:idx val="9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10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11"/>
            <c:invertIfNegative val="0"/>
            <c:spPr>
              <a:solidFill>
                <a:srgbClr val="2E7D5A"/>
              </a:solidFill>
              <a:ln w="0">
                <a:noFill/>
              </a:ln>
            </c:spPr>
          </c:dPt>
          <c:dPt>
            <c:idx val="12"/>
            <c:invertIfNegative val="0"/>
            <c:spPr>
              <a:solidFill>
                <a:srgbClr val="8A8F98"/>
              </a:solidFill>
              <a:ln w="0">
                <a:noFill/>
              </a:ln>
            </c:spPr>
          </c:dPt>
          <c:dLbls>
            <c:dLbl>
              <c:idx val="0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2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3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4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5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6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7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8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9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0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1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dLbl>
              <c:idx val="12"/>
              <c:numFmt formatCode="0.0" sourceLinked="0"/>
              <c:txPr>
                <a:bodyPr wrap="square"/>
                <a:lstStyle/>
                <a:p>
                  <a:pPr>
                    <a:defRPr sz="1100" b="0" u="none" strike="noStrike">
                      <a:solidFill>
                        <a:srgbClr val="0F2B46"/>
                      </a:solidFill>
                      <a:uFillTx/>
                      <a:latin typeface="Calibri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eparator>; </c:separator>
            </c:dLbl>
            <c:numFmt formatCode="0.0" sourceLinked="0"/>
            <c:txPr>
              <a:bodyPr wrap="square"/>
              <a:lstStyle/>
              <a:p>
                <a:pPr>
                  <a:defRPr sz="1100" b="0" u="none" strike="noStrike">
                    <a:solidFill>
                      <a:srgbClr val="0F2B46"/>
                    </a:solidFill>
                    <a:uFillTx/>
                    <a:latin typeface="Calibri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13"/>
                <c:pt idx="0">
                  <c:v>vidas, λ=0, sem limite · piso p-median</c:v>
                </c:pt>
                <c:pt idx="1">
                  <c:v>vidas, λ=0, sem limite</c:v>
                </c:pt>
                <c:pt idx="2">
                  <c:v>p-median</c:v>
                </c:pt>
                <c:pt idx="3">
                  <c:v>fase 2b, λ=0,1</c:v>
                </c:pt>
                <c:pt idx="4">
                  <c:v>fase 2b c/ restrição, λ=0,1</c:v>
                </c:pt>
                <c:pt idx="5">
                  <c:v>vidas, λ=1, sem limite</c:v>
                </c:pt>
                <c:pt idx="6">
                  <c:v>vidas, λ=1, sem limite · piso p-median</c:v>
                </c:pt>
                <c:pt idx="7">
                  <c:v>vidas, λ=4, sem limite</c:v>
                </c:pt>
                <c:pt idx="8">
                  <c:v>fase 2, λ=0,1</c:v>
                </c:pt>
                <c:pt idx="9">
                  <c:v>vidas, λ=0, K=40</c:v>
                </c:pt>
                <c:pt idx="10">
                  <c:v>vidas, λ=1, K=40</c:v>
                </c:pt>
                <c:pt idx="11">
                  <c:v>vidas, λ=0, K=20</c:v>
                </c:pt>
                <c:pt idx="12">
                  <c:v>rede de hoje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13"/>
                <c:pt idx="0">
                  <c:v>0.362079518298089</c:v>
                </c:pt>
                <c:pt idx="1">
                  <c:v>0.406968588290411</c:v>
                </c:pt>
                <c:pt idx="2">
                  <c:v>1.68620783751951</c:v>
                </c:pt>
                <c:pt idx="3">
                  <c:v>1.83551418772694</c:v>
                </c:pt>
                <c:pt idx="4">
                  <c:v>2.03808787910111</c:v>
                </c:pt>
                <c:pt idx="5">
                  <c:v>2.11430331819241</c:v>
                </c:pt>
                <c:pt idx="6">
                  <c:v>2.30368173633903</c:v>
                </c:pt>
                <c:pt idx="7">
                  <c:v>2.90199983178951</c:v>
                </c:pt>
                <c:pt idx="8">
                  <c:v>7.15715400510318</c:v>
                </c:pt>
                <c:pt idx="9">
                  <c:v>9.85489579975686</c:v>
                </c:pt>
                <c:pt idx="10">
                  <c:v>11.469046608883</c:v>
                </c:pt>
                <c:pt idx="11">
                  <c:v>15.9202386629645</c:v>
                </c:pt>
                <c:pt idx="12">
                  <c:v>25.7581956422556</c:v>
                </c:pt>
              </c:numCache>
            </c:numRef>
          </c:val>
        </c:ser>
        <c:gapWidth val="45"/>
        <c:overlap val="0"/>
        <c:axId val="30760053"/>
        <c:axId val="300702"/>
      </c:barChart>
      <c:catAx>
        <c:axId val="30760053"/>
        <c:scaling>
          <c:orientation val="maxMin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 w="12600">
            <a:noFill/>
          </a:ln>
        </c:spPr>
        <c:txPr>
          <a:bodyPr/>
          <a:lstStyle/>
          <a:p>
            <a:pPr>
              <a:defRPr sz="1150" b="0" u="none" strike="noStrike">
                <a:solidFill>
                  <a:srgbClr val="4A5568"/>
                </a:solidFill>
                <a:uFillTx/>
                <a:latin typeface="Calibri"/>
              </a:defRPr>
            </a:pPr>
          </a:p>
        </c:txPr>
        <c:crossAx val="300702"/>
        <c:crosses val="autoZero"/>
        <c:auto val="1"/>
        <c:lblAlgn val="ctr"/>
        <c:lblOffset val="100"/>
        <c:noMultiLvlLbl val="0"/>
      </c:catAx>
      <c:valAx>
        <c:axId val="300702"/>
        <c:scaling>
          <c:orientation val="minMax"/>
          <c:min val="0"/>
        </c:scaling>
        <c:delete val="1"/>
        <c:axPos val="l"/>
        <c:numFmt formatCode="General" sourceLinked="1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200" b="0" u="none" strike="noStrike">
                <a:solidFill>
                  <a:srgbClr val="000000"/>
                </a:solidFill>
                <a:uFillTx/>
                <a:latin typeface="Arial"/>
              </a:defRPr>
            </a:pPr>
          </a:p>
        </c:txPr>
        <c:crossAx val="30760053"/>
        <c:crossBetween val="between"/>
      </c:valAx>
      <c:spPr>
        <a:noFill/>
        <a:ln w="0">
          <a:noFill/>
        </a:ln>
      </c:spPr>
    </c:plotArea>
    <c:plotVisOnly val="1"/>
    <c:dispBlanksAs val="span"/>
  </c:chart>
  <c:spPr>
    <a:noFill/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2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3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4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charts/style5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F573F72-9041-42D2-80EB-860327437F1A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apresentação conta a fase 3. A pergunta muda de 'o mapa é rápido e justo?' para 'quantas pessoas o mapa salva?'. A fase 2 aparece só para explicar por que trocamos o modelo de Huff pelo modelo de despacho.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9C1EFF7-C644-45FE-9C81-1D532DDB40B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As três hipóteses resumem o que a fase 3 se propôs a testar. O p-median é a referência forte: se o método novo não o superar, o ganho vem só de redesenhar a rede, não do método.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D3336E-69D2-4C91-BCB8-D258D45BC9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750237-D2D1-4607-9CDD-197935A82E2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BC5464A-A200-47D8-8589-46233C7F84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1443671-B96C-4CD1-8773-C836B71DC94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Os exemplos de brinquedo usam β = 4,5 e q = 0,27, os mesmos do deck da fase 2b. Os dois números da direita são da fase 2b, em trânsito livre (antes da calibração da fase 3): por isso os tempos são menores que os desta apresentação.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6462CCB-696F-4960-8B16-AA4E5B51EE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 tempo por saída (70 min no cenário central) não está no SIA: é hipótese, testada com 45 e 100 min na robustez. A ocupação é estimada para a cidade inteira, porque o faturamento não identifica a base de cada saída.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654953B-4609-445A-8922-F9C8208E9E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A1BA22-D4C3-4749-BA98-32F8E5955C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Curva de De Maio et al. (2003), 9.273 paradas cardíacas no estudo OPALS (Ontário), usada por Erkut, Ingolfsson e Erdoğan (2008) para localizar ambulâncias. A PCR não entra como uma terceira classe de chamado: o SIA não diz quantos chamados são PCR. Ela é avaliada por cima do mapa, supondo que acontece onde as pessoas moram.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F919272-7428-45DD-BF54-AC0F463351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Diferente do Gini, o CVaR só melhora se a situação dos piores melhorar: não melhora tirando de quem tem mais.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02463A0-8DA1-4B23-8702-0E86DD9A088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076819-B849-4D05-8643-D79B4FDDA00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D0154E-B758-4417-8999-015A532BE2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Cada configuração parte de 5 sementes aleatórias (e, sem limite K, também do p-median); a melhor vai para a busca iterada. Em zonas de 3 km, o limite dual do programa inteiro é um teto válido, mas largo (folga de 17%): não certifica que a busca achou o ótimo.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4C838D2-6FD1-44D9-BA4F-B15D0B82B3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Cinza: rede de hoje. Laranja: mapas das fases 2 e 2b (Huff ou despacho + Gini, NSGA-II). Azul: p-median. Verde: o mapa da fase 3 escolhido pela robustez (só vidas, sem limite K, com o piso do p-median no chamado grave). Todos medidos com o mesmo modelo de despacho e os mesmos tempos calibrados.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F7B957-1E78-4FE8-8004-7C61128E6F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80F6BB8-18BC-40BF-91C3-197CCA728C1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“Do ganho” = (vidas com K − vidas hoje) ÷ (vidas sem limite − vidas hoje). Km em linha reta, no emparelhamento que minimiza a distância entre bases antigas e novas; só informativo, não entra no problema.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43C4F4-C7C8-4639-8D7F-495F4EDCE57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91C6D1-8C30-4788-93CD-48C9DD8CDA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gráfico, cada linha é um limite K e os pontos de uma linha são os pesos λ. Os losangos são os mapas das fases anteriores.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5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2C8F66-07EF-4A35-A0D4-066DDFC99C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5E169EE-C9C7-46BB-9E71-9EE113F5A6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simulação é uma simulação de eventos discretos. Os chamados chegam por um processo de Poisson com as taxas de envio de USB e USA do SIA/SUS; o setor de cada chamado é sorteado com probabilidade proporcional à população. A duração de cada saída é o deslocamento mais um tempo aleatório, com média de 70 min no cenário central. A parada cardíaca não ocupa ninguém na simulação: ela já está dentro dos volumes do SIA, e só medimos quanto tempo o primeiro desfibrilador levaria.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E974DA-A9E2-4B1F-A1C9-5894F9615CB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E71512-9EE0-4DF2-9EF1-71F965DA87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EA5BE79-8E20-4F94-A232-059BC2DBDE9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686C546-71EE-478B-AA99-3392A362C7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C0E8336-7AC0-424E-9B63-312E5ADFD5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5F9B74-3915-4F72-99CF-CD5A4A5E215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5046E4B-B517-4F33-8BCF-605AF0F28E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FB22D0-4BC1-4F29-AACD-97C782B6A37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8E44510-0EF2-42CE-8A75-002F733537E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ftp.ibge.gov.br/Censos/Censo_Demografico_2022/Agregados_por_Setores_Censitarios/" TargetMode="External"/><Relationship Id="rId2" Type="http://schemas.openxmlformats.org/officeDocument/2006/relationships/hyperlink" Target="https://cnes.datasus.gov.br/" TargetMode="External"/><Relationship Id="rId3" Type="http://schemas.openxmlformats.org/officeDocument/2006/relationships/hyperlink" Target="https://www.openstreetmap.org/copyright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hyperlink" Target="https://doi.org/10.1177/002224296402800307" TargetMode="External"/><Relationship Id="rId4" Type="http://schemas.openxmlformats.org/officeDocument/2006/relationships/hyperlink" Target="https://doi.org/10.1287/trsc.17.1.48" TargetMode="External"/><Relationship Id="rId5" Type="http://schemas.openxmlformats.org/officeDocument/2006/relationships/hyperlink" Target="https://doi.org/10.1287/trsc.23.3.192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hyperlink" Target="https://doi.org/10.1177/002224296402800307" TargetMode="External"/><Relationship Id="rId2" Type="http://schemas.openxmlformats.org/officeDocument/2006/relationships/hyperlink" Target="https://doi.org/10.1287/trsc.17.1.48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hyperlink" Target="https://doi.org/10.1287/trsc.17.1.48" TargetMode="External"/><Relationship Id="rId3" Type="http://schemas.openxmlformats.org/officeDocument/2006/relationships/hyperlink" Target="http://tabnet.datasus.gov.br/cgi/sia/qadescr.htm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hyperlink" Target="https://www.openstreetmap.org/copyright" TargetMode="External"/><Relationship Id="rId3" Type="http://schemas.openxmlformats.org/officeDocument/2006/relationships/hyperlink" Target="https://prefeitura.sp.gov.br/web/saude/w/noticias/359560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4.png"/><Relationship Id="rId3" Type="http://schemas.openxmlformats.org/officeDocument/2006/relationships/hyperlink" Target="https://doi.org/10.1067/mem.2003.266" TargetMode="External"/><Relationship Id="rId4" Type="http://schemas.openxmlformats.org/officeDocument/2006/relationships/hyperlink" Target="https://doi.org/10.1002/nav.20267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doi.org/10.21314/JOR.2000.038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hyperlink" Target="https://doi.org/10.1287/trsc.17.1.48" TargetMode="External"/><Relationship Id="rId2" Type="http://schemas.openxmlformats.org/officeDocument/2006/relationships/hyperlink" Target="https://doi.org/10.21314/JOR.2000.038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hyperlink" Target="http://tabnet.datasus.gov.br/cgi/sia/qadescr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hyperlink" Target="https://prefeitura.sp.gov.br/web/saude/w/noticias/359560" TargetMode="External"/><Relationship Id="rId2" Type="http://schemas.openxmlformats.org/officeDocument/2006/relationships/hyperlink" Target="http://tabnet.datasus.gov.br/cgi/sia/qadescr.htm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hyperlink" Target="https://doi.org/10.1016/j.resuscitation.2019.12.042" TargetMode="External"/><Relationship Id="rId2" Type="http://schemas.openxmlformats.org/officeDocument/2006/relationships/hyperlink" Target="https://ftp.ibge.gov.br/Censos/Censo_Demografico_2022/Agregados_por_Setores_Censitarios/" TargetMode="External"/><Relationship Id="rId3" Type="http://schemas.openxmlformats.org/officeDocument/2006/relationships/hyperlink" Target="https://doi.org/10.1067/mem.2003.266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hyperlink" Target="https://doi.org/10.1067/mem.2003.266" TargetMode="External"/><Relationship Id="rId2" Type="http://schemas.openxmlformats.org/officeDocument/2006/relationships/hyperlink" Target="https://prefeitura.sp.gov.br/web/saude/w/noticias/359560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9326880" y="-2011680"/>
            <a:ext cx="5120280" cy="51202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16263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4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67000" y="118872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MAI5003 · PROBABILIDADE E ESTATÍSTICA · FASE 3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67000" y="1600200"/>
            <a:ext cx="10698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4601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Onde colocar as ambulâncias para salvar mais vidas</a:t>
            </a:r>
            <a:endParaRPr lang="pt-BR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567000" y="3246120"/>
            <a:ext cx="10058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900" b="0" i="1" u="none" strike="noStrike">
                <a:solidFill>
                  <a:srgbClr val="C9D6E4"/>
                </a:solidFill>
                <a:effectLst/>
                <a:uFillTx/>
                <a:latin typeface="Cambria"/>
                <a:ea typeface="Cambria"/>
              </a:rPr>
              <a:t>A hipótese da fase 3: medir um mapa de bases pela sobrevida a uma parada cardíaca</a:t>
            </a:r>
            <a:endParaRPr lang="pt-BR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67000" y="416052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FB0C4"/>
                </a:solidFill>
                <a:effectLst/>
                <a:uFillTx/>
                <a:latin typeface="Calibri"/>
                <a:ea typeface="Calibri"/>
              </a:rPr>
              <a:t>Realocação de USB e USA em São Paulo · passo a passo, sem pressupor as fórmulas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567000" y="603504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EB2"/>
                </a:solidFill>
                <a:effectLst/>
                <a:uFillTx/>
                <a:latin typeface="Calibri"/>
                <a:ea typeface="Calibri"/>
              </a:rPr>
              <a:t>Grupo MAI5003 · outubro de 2026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O QUE QUEREMOS TESTAR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A pergunta e a hipótese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3"/>
          <p:cNvSpPr/>
          <p:nvPr/>
        </p:nvSpPr>
        <p:spPr>
          <a:xfrm>
            <a:off x="567000" y="1417320"/>
            <a:ext cx="11063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fase 2 escolhia mapas de bases pelo tempo médio de chegada e pela igualdade de acesso entre bairros (índice de Gini). A fase 3 muda a pergunta: em vez de perguntar se o mapa é rápido e equilibrado, pergunta quantas pessoas ele salva. Para isso usamos a parada cardíaca, a emergência em que se sabe medir quanto cada minuto de atraso custa em vidas.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4"/>
          <p:cNvSpPr/>
          <p:nvPr/>
        </p:nvSpPr>
        <p:spPr>
          <a:xfrm>
            <a:off x="567000" y="2560320"/>
            <a:ext cx="3520080" cy="2514240"/>
          </a:xfrm>
          <a:prstGeom prst="roundRect">
            <a:avLst>
              <a:gd name="adj" fmla="val 3636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5"/>
          <p:cNvSpPr/>
          <p:nvPr/>
        </p:nvSpPr>
        <p:spPr>
          <a:xfrm>
            <a:off x="795600" y="2724840"/>
            <a:ext cx="502560" cy="50256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795600" y="2724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1435680" y="27432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Mirar a sobrevida salva mais vidas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8"/>
          <p:cNvSpPr/>
          <p:nvPr/>
        </p:nvSpPr>
        <p:spPr>
          <a:xfrm>
            <a:off x="795600" y="3383280"/>
            <a:ext cx="31086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Um mapa escolhido para maximizar a sobrevida a uma parada cardíaca salva mais pessoas que a rede de hoje, que o p-median clássico e que os mapas guiados pelo Gini nas fases 2 e 2b.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4316040" y="2560320"/>
            <a:ext cx="3520080" cy="2514240"/>
          </a:xfrm>
          <a:prstGeom prst="roundRect">
            <a:avLst>
              <a:gd name="adj" fmla="val 3636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0"/>
          <p:cNvSpPr/>
          <p:nvPr/>
        </p:nvSpPr>
        <p:spPr>
          <a:xfrm>
            <a:off x="4544640" y="2724840"/>
            <a:ext cx="502560" cy="5025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4544640" y="2724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2"/>
          <p:cNvSpPr/>
          <p:nvPr/>
        </p:nvSpPr>
        <p:spPr>
          <a:xfrm>
            <a:off x="5184720" y="27432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Mudar pouco já rende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13"/>
          <p:cNvSpPr/>
          <p:nvPr/>
        </p:nvSpPr>
        <p:spPr>
          <a:xfrm>
            <a:off x="4544640" y="3383280"/>
            <a:ext cx="31086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Não é preciso redesenhar a rede inteira: mover só uma parte da frota (K ambulâncias) já entrega boa parte do ganho de um redesenho completo.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4"/>
          <p:cNvSpPr/>
          <p:nvPr/>
        </p:nvSpPr>
        <p:spPr>
          <a:xfrm>
            <a:off x="8065080" y="2560320"/>
            <a:ext cx="3520080" cy="2514240"/>
          </a:xfrm>
          <a:prstGeom prst="roundRect">
            <a:avLst>
              <a:gd name="adj" fmla="val 3636"/>
            </a:avLst>
          </a:prstGeom>
          <a:solidFill>
            <a:srgbClr val="EAF1F7"/>
          </a:solidFill>
          <a:ln w="12700">
            <a:solidFill>
              <a:srgbClr val="EAF1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5"/>
          <p:cNvSpPr/>
          <p:nvPr/>
        </p:nvSpPr>
        <p:spPr>
          <a:xfrm>
            <a:off x="8293680" y="2724840"/>
            <a:ext cx="502560" cy="50256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8293680" y="27248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7"/>
          <p:cNvSpPr/>
          <p:nvPr/>
        </p:nvSpPr>
        <p:spPr>
          <a:xfrm>
            <a:off x="8933760" y="2743200"/>
            <a:ext cx="2514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 conclusão resiste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8"/>
          <p:cNvSpPr/>
          <p:nvPr/>
        </p:nvSpPr>
        <p:spPr>
          <a:xfrm>
            <a:off x="8293680" y="3383280"/>
            <a:ext cx="310860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ordem dos mapas se mantém quando a cidade é simulada chamado a chamado e quando as hipóteses que não conseguimos medir (tempo, trânsito, carga) mudam.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567000" y="53035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Superar a rede de hoje é fácil, porque ela não foi desenhada por otimização. O teste de verdade é superar o p-median, a solução clássica que põe as bases onde o tempo médio até a ambulância mais próxima é o menor possível.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ROTEIRO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 roteiro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3"/>
          <p:cNvSpPr/>
          <p:nvPr/>
        </p:nvSpPr>
        <p:spPr>
          <a:xfrm>
            <a:off x="567000" y="150876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4"/>
          <p:cNvSpPr/>
          <p:nvPr/>
        </p:nvSpPr>
        <p:spPr>
          <a:xfrm>
            <a:off x="567000" y="15087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1134000" y="149040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Dois conjuntos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6"/>
          <p:cNvSpPr/>
          <p:nvPr/>
        </p:nvSpPr>
        <p:spPr>
          <a:xfrm>
            <a:off x="1134000" y="178308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Os setores censitários, onde a demanda é medida, e os locais candidatos, onde uma ambulância pode ficar.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567000" y="260604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8"/>
          <p:cNvSpPr/>
          <p:nvPr/>
        </p:nvSpPr>
        <p:spPr>
          <a:xfrm>
            <a:off x="567000" y="2606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9"/>
          <p:cNvSpPr/>
          <p:nvPr/>
        </p:nvSpPr>
        <p:spPr>
          <a:xfrm>
            <a:off x="1134000" y="258768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Por que não o Huff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0"/>
          <p:cNvSpPr/>
          <p:nvPr/>
        </p:nvSpPr>
        <p:spPr>
          <a:xfrm>
            <a:off x="1134000" y="288036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único pedaço da fase 2 que precisamos: o modelo de escolha usado antes descreve mal o despacho de ambulâncias.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1"/>
          <p:cNvSpPr/>
          <p:nvPr/>
        </p:nvSpPr>
        <p:spPr>
          <a:xfrm>
            <a:off x="567000" y="370332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12"/>
          <p:cNvSpPr/>
          <p:nvPr/>
        </p:nvSpPr>
        <p:spPr>
          <a:xfrm>
            <a:off x="567000" y="3703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3"/>
          <p:cNvSpPr/>
          <p:nvPr/>
        </p:nvSpPr>
        <p:spPr>
          <a:xfrm>
            <a:off x="1134000" y="368496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Quem atende e em quanto tempo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4"/>
          <p:cNvSpPr/>
          <p:nvPr/>
        </p:nvSpPr>
        <p:spPr>
          <a:xfrm>
            <a:off x="1134000" y="397764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regra real do regulador, a ocupação das ambulâncias medida no SUS e os tempos de viagem corrigidos pelo trânsito.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15"/>
          <p:cNvSpPr/>
          <p:nvPr/>
        </p:nvSpPr>
        <p:spPr>
          <a:xfrm>
            <a:off x="567000" y="480060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6"/>
          <p:cNvSpPr/>
          <p:nvPr/>
        </p:nvSpPr>
        <p:spPr>
          <a:xfrm>
            <a:off x="567000" y="4800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7"/>
          <p:cNvSpPr/>
          <p:nvPr/>
        </p:nvSpPr>
        <p:spPr>
          <a:xfrm>
            <a:off x="1134000" y="478224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Como medir vidas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/>
          <p:cNvSpPr/>
          <p:nvPr/>
        </p:nvSpPr>
        <p:spPr>
          <a:xfrm>
            <a:off x="1134000" y="507492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curva de sobrevida da parada cardíaca, a média da cidade e a média dos 10% mais mal servidos.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9"/>
          <p:cNvSpPr/>
          <p:nvPr/>
        </p:nvSpPr>
        <p:spPr>
          <a:xfrm>
            <a:off x="6236280" y="150876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0"/>
          <p:cNvSpPr/>
          <p:nvPr/>
        </p:nvSpPr>
        <p:spPr>
          <a:xfrm>
            <a:off x="6236280" y="150876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1"/>
          <p:cNvSpPr/>
          <p:nvPr/>
        </p:nvSpPr>
        <p:spPr>
          <a:xfrm>
            <a:off x="6803280" y="149040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 problema e como resolver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22"/>
          <p:cNvSpPr/>
          <p:nvPr/>
        </p:nvSpPr>
        <p:spPr>
          <a:xfrm>
            <a:off x="6803280" y="178308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que se decide, o que se maximiza, as restrições e o algoritmo de busca.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23"/>
          <p:cNvSpPr/>
          <p:nvPr/>
        </p:nvSpPr>
        <p:spPr>
          <a:xfrm>
            <a:off x="6236280" y="260604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24"/>
          <p:cNvSpPr/>
          <p:nvPr/>
        </p:nvSpPr>
        <p:spPr>
          <a:xfrm>
            <a:off x="6236280" y="2606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5"/>
          <p:cNvSpPr/>
          <p:nvPr/>
        </p:nvSpPr>
        <p:spPr>
          <a:xfrm>
            <a:off x="6803280" y="258768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H1 e H2: resultados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26"/>
          <p:cNvSpPr/>
          <p:nvPr/>
        </p:nvSpPr>
        <p:spPr>
          <a:xfrm>
            <a:off x="6803280" y="288036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Os mapas existentes medidos em vidas e quanto rende mover só K ambulâncias.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27"/>
          <p:cNvSpPr/>
          <p:nvPr/>
        </p:nvSpPr>
        <p:spPr>
          <a:xfrm>
            <a:off x="6236280" y="370332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8"/>
          <p:cNvSpPr/>
          <p:nvPr/>
        </p:nvSpPr>
        <p:spPr>
          <a:xfrm>
            <a:off x="6236280" y="3703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9"/>
          <p:cNvSpPr/>
          <p:nvPr/>
        </p:nvSpPr>
        <p:spPr>
          <a:xfrm>
            <a:off x="6803280" y="368496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H3: conferência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30"/>
          <p:cNvSpPr/>
          <p:nvPr/>
        </p:nvSpPr>
        <p:spPr>
          <a:xfrm>
            <a:off x="6803280" y="397764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Uma cidade simulada chamado a chamado, 18 cenários de hipóteses e uma contraprova sem a parada cardíaca.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31"/>
          <p:cNvSpPr/>
          <p:nvPr/>
        </p:nvSpPr>
        <p:spPr>
          <a:xfrm>
            <a:off x="6236280" y="480060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32"/>
          <p:cNvSpPr/>
          <p:nvPr/>
        </p:nvSpPr>
        <p:spPr>
          <a:xfrm>
            <a:off x="6236280" y="480060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3"/>
          <p:cNvSpPr/>
          <p:nvPr/>
        </p:nvSpPr>
        <p:spPr>
          <a:xfrm>
            <a:off x="6803280" y="478224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 que levar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34"/>
          <p:cNvSpPr/>
          <p:nvPr/>
        </p:nvSpPr>
        <p:spPr>
          <a:xfrm>
            <a:off x="6803280" y="5074920"/>
            <a:ext cx="4827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veredito da hipótese, o ganho em vidas por ano e as limitações.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35"/>
          <p:cNvSpPr/>
          <p:nvPr/>
        </p:nvSpPr>
        <p:spPr>
          <a:xfrm>
            <a:off x="567000" y="59436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Todo número da apresentação sai de um arquivo de resultado do projeto, e todo dado externo traz o link da fonte no rodapé do slide.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1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Dois conjuntos: onde está a demanda, onde a ambulância pode ficar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567000" y="146304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4"/>
          <p:cNvSpPr/>
          <p:nvPr/>
        </p:nvSpPr>
        <p:spPr>
          <a:xfrm>
            <a:off x="795600" y="157284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26.889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795600" y="219456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setores censitários (índice i): onde as pessoas moram e onde as paradas cardíacas acontecem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6"/>
          <p:cNvSpPr/>
          <p:nvPr/>
        </p:nvSpPr>
        <p:spPr>
          <a:xfrm>
            <a:off x="4334400" y="146304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7"/>
          <p:cNvSpPr/>
          <p:nvPr/>
        </p:nvSpPr>
        <p:spPr>
          <a:xfrm>
            <a:off x="4563000" y="157284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E7D5A"/>
                </a:solidFill>
                <a:effectLst/>
                <a:uFillTx/>
                <a:latin typeface="Cambria"/>
                <a:ea typeface="Cambria"/>
              </a:rPr>
              <a:t>1.107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8"/>
          <p:cNvSpPr/>
          <p:nvPr/>
        </p:nvSpPr>
        <p:spPr>
          <a:xfrm>
            <a:off x="4563000" y="219456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locais candidatos (índice j): estabelecimentos públicos do CNES, os únicos lugares onde uma base pode ficar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9"/>
          <p:cNvSpPr/>
          <p:nvPr/>
        </p:nvSpPr>
        <p:spPr>
          <a:xfrm>
            <a:off x="8101440" y="146304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8330040" y="157284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A78D6"/>
                </a:solidFill>
                <a:effectLst/>
                <a:uFillTx/>
                <a:latin typeface="Cambria"/>
                <a:ea typeface="Cambria"/>
              </a:rPr>
              <a:t>123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1"/>
          <p:cNvSpPr/>
          <p:nvPr/>
        </p:nvSpPr>
        <p:spPr>
          <a:xfrm>
            <a:off x="8330040" y="219456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ambulâncias: 107 USB e 16 USA, hoje distribuídas em 92 locais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2"/>
          <p:cNvSpPr/>
          <p:nvPr/>
        </p:nvSpPr>
        <p:spPr>
          <a:xfrm>
            <a:off x="567000" y="3154680"/>
            <a:ext cx="5394600" cy="22856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841320" y="329184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Os dois tipos de ambulância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841320" y="3657600"/>
            <a:ext cx="49374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USB</a:t>
            </a: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— Unidade de Suporte Básico: condutor e técnico de enfermagem, com desfibrilador automático (DEA). Atende a maior parte dos chamados.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spcAft>
                <a:spcPts val="799"/>
              </a:spcAft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USA</a:t>
            </a: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— Unidade de Suporte Avançado: tem médico a bordo e é reservada para os casos mais graves.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6236280" y="3154680"/>
            <a:ext cx="5394600" cy="2285640"/>
          </a:xfrm>
          <a:prstGeom prst="roundRect">
            <a:avLst>
              <a:gd name="adj" fmla="val 4000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6"/>
          <p:cNvSpPr/>
          <p:nvPr/>
        </p:nvSpPr>
        <p:spPr>
          <a:xfrm>
            <a:off x="6510600" y="329184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 que se decide e o que se mede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6510600" y="3657600"/>
            <a:ext cx="49374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Decide-se quantas USB e quantas USA ficam em cada local j (até 10 por local). Mede-se a sobrevida em cada setor i. Os dois conjuntos se ligam por uma matriz de tempos de viagem, 1.107 locais × 26.889 setores, calculada pelo caminho mais curto nas ruas.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567000" y="56692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O problema tem poucas variáveis (dois números por local), mas cada mapa candidato precisa ser avaliado nos 26.889 setores, e é isso que torna a conta pesada.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9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IBGE · Censo 2022, setores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CNES/DATASUS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OpenStreetMap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2 · O QUE VEIO DA FASE 2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 Huff supõe uma escolha; o SAMU segue uma regra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567000" y="1417320"/>
            <a:ext cx="5394600" cy="4160160"/>
          </a:xfrm>
          <a:prstGeom prst="roundRect">
            <a:avLst>
              <a:gd name="adj" fmla="val 2198"/>
            </a:avLst>
          </a:prstGeom>
          <a:solidFill>
            <a:srgbClr val="FBEAE7"/>
          </a:solidFill>
          <a:ln w="12700">
            <a:solidFill>
              <a:srgbClr val="FBEA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841320" y="15544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EB6834"/>
                </a:solidFill>
                <a:effectLst/>
                <a:uFillTx/>
                <a:latin typeface="Calibri"/>
                <a:ea typeface="Calibri"/>
              </a:rPr>
              <a:t>Huff (usado na fase 2)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Image 0" descr="C:\Users\lucas\Documents\MECAI\Estatistica\samu-usb-usa\figs\fase2\formulas\huff_principal.png"/>
          <p:cNvPicPr/>
          <p:nvPr/>
        </p:nvPicPr>
        <p:blipFill>
          <a:blip r:embed="rId1"/>
          <a:stretch/>
        </p:blipFill>
        <p:spPr>
          <a:xfrm>
            <a:off x="932760" y="1965960"/>
            <a:ext cx="2311200" cy="914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Text 5"/>
          <p:cNvSpPr/>
          <p:nvPr/>
        </p:nvSpPr>
        <p:spPr>
          <a:xfrm>
            <a:off x="841320" y="3017520"/>
            <a:ext cx="48916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modelo de Huff vem do varejo (1964) e descreve em qual loja um consumidor escolhe comprar. Cada base recebe um peso que diminui com a distância, e a chance de ela atender um setor é o seu peso dividido pela soma dos pesos de todas as bases. O ritmo dessa queda, β, não é medido em lugar nenhum: na fase 2 ele foi fixado em 4,5 min por argumento.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6"/>
          <p:cNvSpPr/>
          <p:nvPr/>
        </p:nvSpPr>
        <p:spPr>
          <a:xfrm>
            <a:off x="6236280" y="1417320"/>
            <a:ext cx="5394600" cy="4160160"/>
          </a:xfrm>
          <a:prstGeom prst="roundRect">
            <a:avLst>
              <a:gd name="adj" fmla="val 2198"/>
            </a:avLst>
          </a:prstGeom>
          <a:solidFill>
            <a:srgbClr val="E6F0EA"/>
          </a:solidFill>
          <a:ln w="12700">
            <a:solidFill>
              <a:srgbClr val="E6F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7"/>
          <p:cNvSpPr/>
          <p:nvPr/>
        </p:nvSpPr>
        <p:spPr>
          <a:xfrm>
            <a:off x="6510600" y="155448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2E7D5A"/>
                </a:solidFill>
                <a:effectLst/>
                <a:uFillTx/>
                <a:latin typeface="Calibri"/>
                <a:ea typeface="Calibri"/>
              </a:rPr>
              <a:t>Despacho (usado nas fases 2b e 3)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2" name="Image 1" descr="C:\Users\lucas\Documents\MECAI\Estatistica\samu-usb-usa\figs\fase2\formulas\desp_geom.png"/>
          <p:cNvPicPr/>
          <p:nvPr/>
        </p:nvPicPr>
        <p:blipFill>
          <a:blip r:embed="rId2"/>
          <a:stretch/>
        </p:blipFill>
        <p:spPr>
          <a:xfrm>
            <a:off x="6602040" y="2194560"/>
            <a:ext cx="3089520" cy="438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Text 8"/>
          <p:cNvSpPr/>
          <p:nvPr/>
        </p:nvSpPr>
        <p:spPr>
          <a:xfrm>
            <a:off x="6510600" y="3017520"/>
            <a:ext cx="489168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No SAMU ninguém escolhe: o médico regulador manda a ambulância livre mais próxima. A distância só decide a ordem em que as bases são consultadas; quem atende depende de quais estão ocupadas naquele momento. O único parâmetro é a ocupação q, a fração do tempo em que uma ambulância está fora atendendo, e ela pode ser estimada com as saídas registradas no SUS.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9"/>
          <p:cNvSpPr/>
          <p:nvPr/>
        </p:nvSpPr>
        <p:spPr>
          <a:xfrm>
            <a:off x="567000" y="58064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A diferença não é detalhe técnico: um modelo descreve uma escolha que não existe; o outro descreve a regra que o regulador de fato segue.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0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Huff (1964)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4"/>
              </a:rPr>
              <a:t>Daskin (1983)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5"/>
              </a:rPr>
              <a:t>ReVelle &amp; Hogan (1989)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2 · O QUE VEIO DA FASE 2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Consequência: o Huff esconde a demora da periferia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3"/>
          <p:cNvSpPr/>
          <p:nvPr/>
        </p:nvSpPr>
        <p:spPr>
          <a:xfrm>
            <a:off x="567000" y="1371600"/>
            <a:ext cx="67662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Um exemplo pequeno mostra o efeito. Um setor central tem USAs a 2 e 4 min; um periférico, a 10, 22 e 25 min. Calculamos o tempo esperado até a USA chegar pelos dois modelos: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0" name="Table 0"/>
          <p:cNvGraphicFramePr/>
          <p:nvPr/>
        </p:nvGraphicFramePr>
        <p:xfrm>
          <a:off x="567000" y="2148840"/>
          <a:ext cx="6674760" cy="115164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554480"/>
                <a:gridCol w="155448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setor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USAs a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Huff (β = 4,5)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despacho (q = 0,27)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central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 e 4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2,85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2,39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periférico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10, 22 e 25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10,00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0F2B4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13,16 min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BEAE7"/>
                    </a:solidFill>
                  </a:tcPr>
                </a:tc>
              </a:tr>
            </a:tbl>
          </a:graphicData>
        </a:graphic>
      </p:graphicFrame>
      <p:sp>
        <p:nvSpPr>
          <p:cNvPr id="111" name="Text 4"/>
          <p:cNvSpPr/>
          <p:nvPr/>
        </p:nvSpPr>
        <p:spPr>
          <a:xfrm>
            <a:off x="567000" y="3429000"/>
            <a:ext cx="66747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No setor periférico, o Huff dá à USA de 22 min uma chance de 0,008% de atender — na prática, nunca. No despacho ela atende toda vez que a de 10 min estiver ocupada, o que acontece em 20% dos chamados. Por isso o Huff calcula um tempo menor do que o real.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567000" y="4480560"/>
            <a:ext cx="6674760" cy="1096920"/>
          </a:xfrm>
          <a:prstGeom prst="roundRect">
            <a:avLst>
              <a:gd name="adj" fmla="val 8333"/>
            </a:avLst>
          </a:prstGeom>
          <a:solidFill>
            <a:srgbClr val="FBEAE7"/>
          </a:solidFill>
          <a:ln w="12700">
            <a:solidFill>
              <a:srgbClr val="FBEA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841320" y="4553640"/>
            <a:ext cx="62175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 Huff faz a periferia parecer mais bem servida do que é — justamente onde o projeto quer medir desigualdade. Um otimizador guiado por ele pode escolher mapas que abandonam a periferia sem perceber.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7589520" y="1371600"/>
            <a:ext cx="4041360" cy="4205880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7818120" y="15087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No mapa real (resultados da fase 2)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7818120" y="18745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B6834"/>
                </a:solidFill>
                <a:effectLst/>
                <a:uFillTx/>
                <a:latin typeface="Cambria"/>
                <a:ea typeface="Cambria"/>
              </a:rPr>
              <a:t>7,43 × 5,67 min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0"/>
          <p:cNvSpPr/>
          <p:nvPr/>
        </p:nvSpPr>
        <p:spPr>
          <a:xfrm>
            <a:off x="7818120" y="2377440"/>
            <a:ext cx="3657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Tempo esperado de chegada na rede de hoje pelo Huff e pelo despacho. O mapa e as ruas são os mesmos; só muda o modelo de quem atende.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1"/>
          <p:cNvSpPr/>
          <p:nvPr/>
        </p:nvSpPr>
        <p:spPr>
          <a:xfrm>
            <a:off x="7818120" y="347472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EB6834"/>
                </a:solidFill>
                <a:effectLst/>
                <a:uFillTx/>
                <a:latin typeface="Cambria"/>
                <a:ea typeface="Cambria"/>
              </a:rPr>
              <a:t>0,7% × 34,5%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7818120" y="3977640"/>
            <a:ext cx="3657240" cy="150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Chance de uma USA chegar em até 10 min para os 10% mais mal servidos: no mapa que a fase 2 otimizou com Huff e Gini, e no p-median (ambos medidos com o despacho).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567000" y="585216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Por isso a fase 3 usa o modelo de despacho e mede cada mapa pelo que importa no fim: quantas vidas ele salva.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Huff (1964)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Daskin (1983)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dados/fase2/sp_q_sens.json (trânsito livre)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3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Quem atende: a ambulância livre mais próxima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7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3"/>
          <p:cNvSpPr/>
          <p:nvPr/>
        </p:nvSpPr>
        <p:spPr>
          <a:xfrm>
            <a:off x="567000" y="137160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Quando chega um chamado, o regulador percorre as ambulâncias da mais próxima para a mais distante e manda a primeira que estiver livre: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567000" y="1874520"/>
            <a:ext cx="255996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749880" y="19659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1ª mais próxima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749880" y="23043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B6834"/>
                </a:solidFill>
                <a:effectLst/>
                <a:uFillTx/>
                <a:latin typeface="Calibri"/>
                <a:ea typeface="Calibri"/>
              </a:rPr>
              <a:t>ocupada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7"/>
          <p:cNvSpPr/>
          <p:nvPr/>
        </p:nvSpPr>
        <p:spPr>
          <a:xfrm>
            <a:off x="3401640" y="1874520"/>
            <a:ext cx="255996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8"/>
          <p:cNvSpPr/>
          <p:nvPr/>
        </p:nvSpPr>
        <p:spPr>
          <a:xfrm>
            <a:off x="3584520" y="19659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2ª mais próxima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9"/>
          <p:cNvSpPr/>
          <p:nvPr/>
        </p:nvSpPr>
        <p:spPr>
          <a:xfrm>
            <a:off x="3584520" y="23043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B6834"/>
                </a:solidFill>
                <a:effectLst/>
                <a:uFillTx/>
                <a:latin typeface="Calibri"/>
                <a:ea typeface="Calibri"/>
              </a:rPr>
              <a:t>ocupada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6236280" y="1874520"/>
            <a:ext cx="255996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6419160" y="19659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3ª mais próxima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6419160" y="23043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E7D5A"/>
                </a:solidFill>
                <a:effectLst/>
                <a:uFillTx/>
                <a:latin typeface="Calibri"/>
                <a:ea typeface="Calibri"/>
              </a:rPr>
              <a:t>LIVRE → vai ela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3"/>
          <p:cNvSpPr/>
          <p:nvPr/>
        </p:nvSpPr>
        <p:spPr>
          <a:xfrm>
            <a:off x="9070920" y="1874520"/>
            <a:ext cx="2559960" cy="9140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4"/>
          <p:cNvSpPr/>
          <p:nvPr/>
        </p:nvSpPr>
        <p:spPr>
          <a:xfrm>
            <a:off x="9253800" y="19659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4ª mais próxima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5"/>
          <p:cNvSpPr/>
          <p:nvPr/>
        </p:nvSpPr>
        <p:spPr>
          <a:xfrm>
            <a:off x="9253800" y="23043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nem é consultada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0" descr="C:\Users\lucas\Documents\MECAI\Estatistica\samu-usb-usa\figs\fase2\formulas\desp_geom.png"/>
          <p:cNvPicPr/>
          <p:nvPr/>
        </p:nvPicPr>
        <p:blipFill>
          <a:blip r:embed="rId1"/>
          <a:stretch/>
        </p:blipFill>
        <p:spPr>
          <a:xfrm>
            <a:off x="749880" y="3063240"/>
            <a:ext cx="32184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16"/>
          <p:cNvSpPr/>
          <p:nvPr/>
        </p:nvSpPr>
        <p:spPr>
          <a:xfrm>
            <a:off x="4224600" y="2926080"/>
            <a:ext cx="7406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Se cada ambulância está ocupada uma fração q do tempo, independentemente das outras, a chance de a k-ésima mais próxima atender é a chance de as k−1 anteriores estarem ocupadas (q elevado a k−1) vezes a chance de ela estar livre (1−q).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17"/>
          <p:cNvSpPr/>
          <p:nvPr/>
        </p:nvSpPr>
        <p:spPr>
          <a:xfrm>
            <a:off x="567000" y="3886200"/>
            <a:ext cx="265140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8"/>
          <p:cNvSpPr/>
          <p:nvPr/>
        </p:nvSpPr>
        <p:spPr>
          <a:xfrm>
            <a:off x="795600" y="399600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E7D5A"/>
                </a:solidFill>
                <a:effectLst/>
                <a:uFillTx/>
                <a:latin typeface="Cambria"/>
                <a:ea typeface="Cambria"/>
              </a:rPr>
              <a:t>0,35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795600" y="461772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q das USB: cada uma passa 35% do tempo fora, atendendo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0"/>
          <p:cNvSpPr/>
          <p:nvPr/>
        </p:nvSpPr>
        <p:spPr>
          <a:xfrm>
            <a:off x="3401640" y="3886200"/>
            <a:ext cx="265140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3630240" y="3996000"/>
            <a:ext cx="219420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E7D5A"/>
                </a:solidFill>
                <a:effectLst/>
                <a:uFillTx/>
                <a:latin typeface="Cambria"/>
                <a:ea typeface="Cambria"/>
              </a:rPr>
              <a:t>0,21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2"/>
          <p:cNvSpPr/>
          <p:nvPr/>
        </p:nvSpPr>
        <p:spPr>
          <a:xfrm>
            <a:off x="3630240" y="4617720"/>
            <a:ext cx="21942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q das USA: menos ocupadas, porque ficam reservadas aos casos graves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3"/>
          <p:cNvSpPr/>
          <p:nvPr/>
        </p:nvSpPr>
        <p:spPr>
          <a:xfrm>
            <a:off x="6236280" y="3886200"/>
            <a:ext cx="539460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4"/>
          <p:cNvSpPr/>
          <p:nvPr/>
        </p:nvSpPr>
        <p:spPr>
          <a:xfrm>
            <a:off x="6464880" y="3977640"/>
            <a:ext cx="498312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Chamado grave</a:t>
            </a: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→ USA livre mais próxima.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Chamado básico</a:t>
            </a: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→ USB livre mais próxima; se nenhuma, USA.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899"/>
              </a:lnSpc>
              <a:spcAft>
                <a:spcPts val="400"/>
              </a:spcAft>
              <a:tabLst>
                <a:tab pos="0" algn="l"/>
              </a:tabLst>
            </a:pPr>
            <a:r>
              <a:rPr lang="en-US" sz="13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Parada cardíaca</a:t>
            </a: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→ vão a USB e a USA livres mais próximas; quem chegar primeiro desfibrila.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567000" y="54864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A ocupação vem da lei de Little: o número médio de ambulâncias ocupadas é igual às saídas por hora (registradas no SIA/SUS) vezes a duração de cada saída (70 min no cenário central). Dividindo pelo número de ambulâncias, temos q.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6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Daskin (1983)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SIA/SUS · notas técnicas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dados/fase2/sp_utilizacao.json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3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Tempos reais: o mapa de ruas é rápido demais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8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3"/>
          <p:cNvSpPr/>
          <p:nvPr/>
        </p:nvSpPr>
        <p:spPr>
          <a:xfrm>
            <a:off x="567000" y="137160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matriz de tempos vem do mapa de ruas do OpenStreetMap, que supõe trânsito livre e não conta o tempo até a ambulância sair da base. Isso deixa todas as chegadas mais rápidas do que são.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4"/>
          <p:cNvSpPr/>
          <p:nvPr/>
        </p:nvSpPr>
        <p:spPr>
          <a:xfrm>
            <a:off x="567000" y="2103120"/>
            <a:ext cx="32914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5"/>
          <p:cNvSpPr/>
          <p:nvPr/>
        </p:nvSpPr>
        <p:spPr>
          <a:xfrm>
            <a:off x="795600" y="221292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B6834"/>
                </a:solidFill>
                <a:effectLst/>
                <a:uFillTx/>
                <a:latin typeface="Cambria"/>
                <a:ea typeface="Cambria"/>
              </a:rPr>
              <a:t>9,8 min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6"/>
          <p:cNvSpPr/>
          <p:nvPr/>
        </p:nvSpPr>
        <p:spPr>
          <a:xfrm>
            <a:off x="795600" y="2834640"/>
            <a:ext cx="2834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tempo médio da USA até o chamado grave na rede de hoje, pelo mapa de ruas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7"/>
          <p:cNvSpPr/>
          <p:nvPr/>
        </p:nvSpPr>
        <p:spPr>
          <a:xfrm>
            <a:off x="3995640" y="2788920"/>
            <a:ext cx="54864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8"/>
          <p:cNvSpPr/>
          <p:nvPr/>
        </p:nvSpPr>
        <p:spPr>
          <a:xfrm>
            <a:off x="4681800" y="2103120"/>
            <a:ext cx="32914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9"/>
          <p:cNvSpPr/>
          <p:nvPr/>
        </p:nvSpPr>
        <p:spPr>
          <a:xfrm>
            <a:off x="4910400" y="2212920"/>
            <a:ext cx="28342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20 min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0"/>
          <p:cNvSpPr/>
          <p:nvPr/>
        </p:nvSpPr>
        <p:spPr>
          <a:xfrm>
            <a:off x="4910400" y="2834640"/>
            <a:ext cx="2834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que a Prefeitura informa para a chegada nos casos mais graves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11"/>
          <p:cNvSpPr/>
          <p:nvPr/>
        </p:nvSpPr>
        <p:spPr>
          <a:xfrm>
            <a:off x="8247960" y="2103120"/>
            <a:ext cx="3382920" cy="1462680"/>
          </a:xfrm>
          <a:prstGeom prst="roundRect">
            <a:avLst>
              <a:gd name="adj" fmla="val 6250"/>
            </a:avLst>
          </a:prstGeom>
          <a:solidFill>
            <a:srgbClr val="E6F0EA"/>
          </a:solidFill>
          <a:ln w="12700">
            <a:solidFill>
              <a:srgbClr val="E6F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2"/>
          <p:cNvSpPr/>
          <p:nvPr/>
        </p:nvSpPr>
        <p:spPr>
          <a:xfrm>
            <a:off x="8476560" y="221292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E7D5A"/>
                </a:solidFill>
                <a:effectLst/>
                <a:uFillTx/>
                <a:latin typeface="Cambria"/>
                <a:ea typeface="Cambria"/>
              </a:rPr>
              <a:t>f = 1,817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13"/>
          <p:cNvSpPr/>
          <p:nvPr/>
        </p:nvSpPr>
        <p:spPr>
          <a:xfrm>
            <a:off x="8476560" y="278892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fator de trânsito, mais 3 min de atraso até a saída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0" descr="C:\Users\lucas\Documents\MECAI\Estatistica\samu-usb-usa\figs\fase3\formulas\t_calib.png"/>
          <p:cNvPicPr/>
          <p:nvPr/>
        </p:nvPicPr>
        <p:blipFill>
          <a:blip r:embed="rId1"/>
          <a:stretch/>
        </p:blipFill>
        <p:spPr>
          <a:xfrm>
            <a:off x="749880" y="3840480"/>
            <a:ext cx="3285000" cy="456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14"/>
          <p:cNvSpPr/>
          <p:nvPr/>
        </p:nvSpPr>
        <p:spPr>
          <a:xfrm>
            <a:off x="4773240" y="374904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f é o único número que faz a rede de hoje reproduzir os 20 min da Prefeitura. Como ele multiplica todos os tempos por igual, não muda a ordem das bases — só ajusta o relógio.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15"/>
          <p:cNvSpPr/>
          <p:nvPr/>
        </p:nvSpPr>
        <p:spPr>
          <a:xfrm>
            <a:off x="567000" y="4617720"/>
            <a:ext cx="11063880" cy="868320"/>
          </a:xfrm>
          <a:prstGeom prst="roundRect">
            <a:avLst>
              <a:gd name="adj" fmla="val 10526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6"/>
          <p:cNvSpPr/>
          <p:nvPr/>
        </p:nvSpPr>
        <p:spPr>
          <a:xfrm>
            <a:off x="841320" y="466344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Por que importa: com os tempos de trânsito livre, a rede de hoje salvaria 158,6 de cada 1.000 paradas cardíacas; com os tempos calibrados, 44,1. Como a sobrevida cai rápido com o minuto, acertar o relógio muda tudo.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17"/>
          <p:cNvSpPr/>
          <p:nvPr/>
        </p:nvSpPr>
        <p:spPr>
          <a:xfrm>
            <a:off x="567000" y="57150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Como a calibração depende de um único número publicado pela Prefeitura, a análise de robustez repete tudo também com trânsito livre e com trânsito 25% mais lento.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18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OpenStreetMap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Prefeitura de SP, dez/2023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v1_calibracao.json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Por que a parada cardíaca: cada minuto custa vidas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9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73" name="Chart 0"/>
          <p:cNvGraphicFramePr/>
          <p:nvPr/>
        </p:nvGraphicFramePr>
        <p:xfrm>
          <a:off x="567000" y="1371600"/>
          <a:ext cx="6400440" cy="402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4" name="Shape 3"/>
          <p:cNvSpPr/>
          <p:nvPr/>
        </p:nvSpPr>
        <p:spPr>
          <a:xfrm>
            <a:off x="7269480" y="1371600"/>
            <a:ext cx="436140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4"/>
          <p:cNvSpPr/>
          <p:nvPr/>
        </p:nvSpPr>
        <p:spPr>
          <a:xfrm>
            <a:off x="7452360" y="1417320"/>
            <a:ext cx="1737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E7D5A"/>
                </a:solidFill>
                <a:effectLst/>
                <a:uFillTx/>
                <a:latin typeface="Cambria"/>
                <a:ea typeface="Cambria"/>
              </a:rPr>
              <a:t>12,0%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"/>
          <p:cNvSpPr/>
          <p:nvPr/>
        </p:nvSpPr>
        <p:spPr>
          <a:xfrm>
            <a:off x="9189720" y="1417320"/>
            <a:ext cx="2331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sobrevivem se o desfibrilador chega em 5 min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6"/>
          <p:cNvSpPr/>
          <p:nvPr/>
        </p:nvSpPr>
        <p:spPr>
          <a:xfrm>
            <a:off x="7269480" y="2240280"/>
            <a:ext cx="436140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7"/>
          <p:cNvSpPr/>
          <p:nvPr/>
        </p:nvSpPr>
        <p:spPr>
          <a:xfrm>
            <a:off x="7452360" y="2286000"/>
            <a:ext cx="1737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E7D5A"/>
                </a:solidFill>
                <a:effectLst/>
                <a:uFillTx/>
                <a:latin typeface="Cambria"/>
                <a:ea typeface="Cambria"/>
              </a:rPr>
              <a:t>4,6%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8"/>
          <p:cNvSpPr/>
          <p:nvPr/>
        </p:nvSpPr>
        <p:spPr>
          <a:xfrm>
            <a:off x="9189720" y="2286000"/>
            <a:ext cx="2331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sobrevivem se o desfibrilador chega em 9 min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9"/>
          <p:cNvSpPr/>
          <p:nvPr/>
        </p:nvSpPr>
        <p:spPr>
          <a:xfrm>
            <a:off x="7269480" y="3108960"/>
            <a:ext cx="4361400" cy="749520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10"/>
          <p:cNvSpPr/>
          <p:nvPr/>
        </p:nvSpPr>
        <p:spPr>
          <a:xfrm>
            <a:off x="7452360" y="3154680"/>
            <a:ext cx="173700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2E7D5A"/>
                </a:solidFill>
                <a:effectLst/>
                <a:uFillTx/>
                <a:latin typeface="Cambria"/>
                <a:ea typeface="Cambria"/>
              </a:rPr>
              <a:t>1,0%</a:t>
            </a:r>
            <a:endParaRPr lang="pt-B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1"/>
          <p:cNvSpPr/>
          <p:nvPr/>
        </p:nvSpPr>
        <p:spPr>
          <a:xfrm>
            <a:off x="9189720" y="3154680"/>
            <a:ext cx="23313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sobrevivem se o desfibrilador chega em 15 min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Image 0" descr="C:\Users\lucas\Documents\MECAI\Estatistica\samu-usb-usa\figs\fase3\formulas\sobrev.png"/>
          <p:cNvPicPr/>
          <p:nvPr/>
        </p:nvPicPr>
        <p:blipFill>
          <a:blip r:embed="rId2"/>
          <a:stretch/>
        </p:blipFill>
        <p:spPr>
          <a:xfrm>
            <a:off x="7315200" y="4023360"/>
            <a:ext cx="215316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" name="Text 12"/>
          <p:cNvSpPr/>
          <p:nvPr/>
        </p:nvSpPr>
        <p:spPr>
          <a:xfrm>
            <a:off x="7269480" y="4617720"/>
            <a:ext cx="43614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curva vem de 9.273 paradas cardíacas em Ontário (Canadá). Entre 9 e 10 min, a chance de sobreviver cai 22% em um único minuto.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3"/>
          <p:cNvSpPr/>
          <p:nvPr/>
        </p:nvSpPr>
        <p:spPr>
          <a:xfrm>
            <a:off x="567000" y="55321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A parada cardíaca é a emergência em que a relação entre minutos e mortes está mais bem medida. Por isso ela serve de régua (condição traçadora) para comparar mapas, mesmo sendo só uma parte dos chamados.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4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De Maio et al. (2003)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4"/>
              </a:rPr>
              <a:t>Erkut, Ingolfsson &amp; Erdoğan (2008)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Duas medidas: vidas na cidade e nos 10% piores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3"/>
          <p:cNvSpPr/>
          <p:nvPr/>
        </p:nvSpPr>
        <p:spPr>
          <a:xfrm>
            <a:off x="567000" y="1371600"/>
            <a:ext cx="5394600" cy="315432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4"/>
          <p:cNvSpPr/>
          <p:nvPr/>
        </p:nvSpPr>
        <p:spPr>
          <a:xfrm>
            <a:off x="841320" y="150876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Vidas: a média da cidade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2" name="Image 0" descr="C:\Users\lucas\Documents\MECAI\Estatistica\samu-usb-usa\figs\fase3\formulas\s_setor.png"/>
          <p:cNvPicPr/>
          <p:nvPr/>
        </p:nvPicPr>
        <p:blipFill>
          <a:blip r:embed="rId1"/>
          <a:stretch/>
        </p:blipFill>
        <p:spPr>
          <a:xfrm>
            <a:off x="932760" y="1920240"/>
            <a:ext cx="1701000" cy="502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" name="Image 1" descr="C:\Users\lucas\Documents\MECAI\Estatistica\samu-usb-usa\figs\fase3\formulas\vidas.png"/>
          <p:cNvPicPr/>
          <p:nvPr/>
        </p:nvPicPr>
        <p:blipFill>
          <a:blip r:embed="rId2"/>
          <a:stretch/>
        </p:blipFill>
        <p:spPr>
          <a:xfrm>
            <a:off x="932760" y="2514600"/>
            <a:ext cx="216900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5"/>
          <p:cNvSpPr/>
          <p:nvPr/>
        </p:nvSpPr>
        <p:spPr>
          <a:xfrm>
            <a:off x="841320" y="3154680"/>
            <a:ext cx="484596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Sᵢ é a chance de sobreviver a uma parada cardíaca no setor i: a curva de sobrevida aplicada ao tempo de cada base, ponderada pela chance pᵢⱼ de ela ser a primeira livre a chegar. Somando os setores pelo peso da população wᵢ, temos os sobreviventes esperados por 1.000 paradas na cidade.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6"/>
          <p:cNvSpPr/>
          <p:nvPr/>
        </p:nvSpPr>
        <p:spPr>
          <a:xfrm>
            <a:off x="6236280" y="1371600"/>
            <a:ext cx="5394600" cy="315432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7"/>
          <p:cNvSpPr/>
          <p:nvPr/>
        </p:nvSpPr>
        <p:spPr>
          <a:xfrm>
            <a:off x="6510600" y="150876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CVaR₁₀: os 10% mais mal servidos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7" name="Image 2" descr="C:\Users\lucas\Documents\MECAI\Estatistica\samu-usb-usa\figs\fase3\formulas\cvar.png"/>
          <p:cNvPicPr/>
          <p:nvPr/>
        </p:nvPicPr>
        <p:blipFill>
          <a:blip r:embed="rId3"/>
          <a:stretch/>
        </p:blipFill>
        <p:spPr>
          <a:xfrm>
            <a:off x="6602040" y="2011680"/>
            <a:ext cx="2972880" cy="566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8"/>
          <p:cNvSpPr/>
          <p:nvPr/>
        </p:nvSpPr>
        <p:spPr>
          <a:xfrm>
            <a:off x="6510600" y="2788920"/>
            <a:ext cx="4845960" cy="169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CVaR (conditional value at risk) é uma medida das finanças: a média da cauda ruim de uma distribuição. Aqui, ordenamos os setores da pior para a melhor sobrevida e tiramos a média até completar 10% da população (os pesos ωᵢ). É a sobrevida de quem mora mais longe de tudo.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9"/>
          <p:cNvSpPr/>
          <p:nvPr/>
        </p:nvSpPr>
        <p:spPr>
          <a:xfrm>
            <a:off x="567000" y="4709160"/>
            <a:ext cx="1105920" cy="319680"/>
          </a:xfrm>
          <a:prstGeom prst="rect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Shape 10"/>
          <p:cNvSpPr/>
          <p:nvPr/>
        </p:nvSpPr>
        <p:spPr>
          <a:xfrm>
            <a:off x="1673280" y="4709160"/>
            <a:ext cx="9957600" cy="319680"/>
          </a:xfrm>
          <a:prstGeom prst="rect">
            <a:avLst/>
          </a:prstGeom>
          <a:solidFill>
            <a:srgbClr val="C9D6E4"/>
          </a:solidFill>
          <a:ln w="12700">
            <a:solidFill>
              <a:srgbClr val="C9D6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11"/>
          <p:cNvSpPr/>
          <p:nvPr/>
        </p:nvSpPr>
        <p:spPr>
          <a:xfrm>
            <a:off x="658440" y="5074920"/>
            <a:ext cx="27428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EB6834"/>
                </a:solidFill>
                <a:effectLst/>
                <a:uFillTx/>
                <a:latin typeface="Calibri"/>
                <a:ea typeface="Calibri"/>
              </a:rPr>
              <a:t>10% piores → CVaR₁₀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12"/>
          <p:cNvSpPr/>
          <p:nvPr/>
        </p:nvSpPr>
        <p:spPr>
          <a:xfrm>
            <a:off x="2761560" y="5074920"/>
            <a:ext cx="87778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toda a população, ordenada da pior para a melhor sobrevida → a média de todos dá as vidas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13"/>
          <p:cNvSpPr/>
          <p:nvPr/>
        </p:nvSpPr>
        <p:spPr>
          <a:xfrm>
            <a:off x="567000" y="562356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Na rede de hoje, de cada 1.000 paradas cardíacas na cidade, 44,1 pessoas sobreviveriam em média; entre os 10% mais mal servidos, só 7,4.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14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4"/>
              </a:rPr>
              <a:t>Rockafellar &amp; Uryasev (2000)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4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Sem desmontar o resto: pisos de cobertura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11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567000" y="137160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Otimizar só a parada cardíaca poderia piorar o atendimento dos outros chamados — por exemplo, tirando USAs de onde elas são necessárias para infartos e traumas. Por isso, duas coberturas não podem cair: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9" name="Image 0" descr="C:\Users\lucas\Documents\MECAI\Estatistica\samu-usb-usa\figs\fase3\formulas\cob.png"/>
          <p:cNvPicPr/>
          <p:nvPr/>
        </p:nvPicPr>
        <p:blipFill>
          <a:blip r:embed="rId1"/>
          <a:stretch/>
        </p:blipFill>
        <p:spPr>
          <a:xfrm>
            <a:off x="749880" y="2148840"/>
            <a:ext cx="2126520" cy="50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0" name="Text 4"/>
          <p:cNvSpPr/>
          <p:nvPr/>
        </p:nvSpPr>
        <p:spPr>
          <a:xfrm>
            <a:off x="4590360" y="2103120"/>
            <a:ext cx="70405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É a chance de haver uma ambulância livre a até 15 min do setor, somada pela população. nᵢ é o número de ambulâncias desse tipo a até 15 min do setor i, e q é a ocupação.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5"/>
          <p:cNvSpPr/>
          <p:nvPr/>
        </p:nvSpPr>
        <p:spPr>
          <a:xfrm>
            <a:off x="567000" y="292608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6"/>
          <p:cNvSpPr/>
          <p:nvPr/>
        </p:nvSpPr>
        <p:spPr>
          <a:xfrm>
            <a:off x="795600" y="30358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A78D6"/>
                </a:solidFill>
                <a:effectLst/>
                <a:uFillTx/>
                <a:latin typeface="Cambria"/>
                <a:ea typeface="Cambria"/>
              </a:rPr>
              <a:t>84,9%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7"/>
          <p:cNvSpPr/>
          <p:nvPr/>
        </p:nvSpPr>
        <p:spPr>
          <a:xfrm>
            <a:off x="795600" y="365760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chamado básico: chance de uma USB livre a até 15 min, rede de hoje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8"/>
          <p:cNvSpPr/>
          <p:nvPr/>
        </p:nvSpPr>
        <p:spPr>
          <a:xfrm>
            <a:off x="4334400" y="292608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9"/>
          <p:cNvSpPr/>
          <p:nvPr/>
        </p:nvSpPr>
        <p:spPr>
          <a:xfrm>
            <a:off x="4563000" y="30358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B6834"/>
                </a:solidFill>
                <a:effectLst/>
                <a:uFillTx/>
                <a:latin typeface="Cambria"/>
                <a:ea typeface="Cambria"/>
              </a:rPr>
              <a:t>39,6%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10"/>
          <p:cNvSpPr/>
          <p:nvPr/>
        </p:nvSpPr>
        <p:spPr>
          <a:xfrm>
            <a:off x="4563000" y="365760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chamado grave: chance de uma USA livre a até 15 min, rede de hoje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1"/>
          <p:cNvSpPr/>
          <p:nvPr/>
        </p:nvSpPr>
        <p:spPr>
          <a:xfrm>
            <a:off x="8101440" y="292608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2"/>
          <p:cNvSpPr/>
          <p:nvPr/>
        </p:nvSpPr>
        <p:spPr>
          <a:xfrm>
            <a:off x="8330040" y="30358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A78D6"/>
                </a:solidFill>
                <a:effectLst/>
                <a:uFillTx/>
                <a:latin typeface="Cambria"/>
                <a:ea typeface="Cambria"/>
              </a:rPr>
              <a:t>53,6%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3"/>
          <p:cNvSpPr/>
          <p:nvPr/>
        </p:nvSpPr>
        <p:spPr>
          <a:xfrm>
            <a:off x="8330040" y="365760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chamado grave no p-median, para comparação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4"/>
          <p:cNvSpPr/>
          <p:nvPr/>
        </p:nvSpPr>
        <p:spPr>
          <a:xfrm>
            <a:off x="567000" y="4526280"/>
            <a:ext cx="11063880" cy="959760"/>
          </a:xfrm>
          <a:prstGeom prst="roundRect">
            <a:avLst>
              <a:gd name="adj" fmla="val 9524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15"/>
          <p:cNvSpPr/>
          <p:nvPr/>
        </p:nvSpPr>
        <p:spPr>
          <a:xfrm>
            <a:off x="841320" y="457200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Piso de hoje</a:t>
            </a: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(padrão): nenhuma das duas coberturas pode ficar abaixo da de hoje.  </a:t>
            </a: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Piso do p-median</a:t>
            </a: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 (variante): o chamado grave precisa alcançar a cobertura do p-median.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6"/>
          <p:cNvSpPr/>
          <p:nvPr/>
        </p:nvSpPr>
        <p:spPr>
          <a:xfrm>
            <a:off x="567000" y="57607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Os pisos são restrições: o otimizador pode melhorar essas coberturas, mas nunca aceita um mapa que as deixe abaixo do mínimo.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5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 problema de otimização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567000" y="1371600"/>
            <a:ext cx="667476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795600" y="15544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DECIDIR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2395800" y="150876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quantas USB e USA ficam em cada um dos 1.107 locais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795240" y="2057400"/>
            <a:ext cx="6217920" cy="360"/>
          </a:xfrm>
          <a:prstGeom prst="line">
            <a:avLst/>
          </a:prstGeom>
          <a:ln w="9525">
            <a:solidFill>
              <a:srgbClr val="E3E0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7"/>
          <p:cNvSpPr/>
          <p:nvPr/>
        </p:nvSpPr>
        <p:spPr>
          <a:xfrm>
            <a:off x="795600" y="219456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MAXIMIZAR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C:\Users\lucas\Documents\MECAI\Estatistica\samu-usb-usa\figs\fase3\formulas\objetivo.png"/>
          <p:cNvPicPr/>
          <p:nvPr/>
        </p:nvPicPr>
        <p:blipFill>
          <a:blip r:embed="rId1"/>
          <a:stretch/>
        </p:blipFill>
        <p:spPr>
          <a:xfrm>
            <a:off x="2395800" y="2130480"/>
            <a:ext cx="2972160" cy="34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Shape 8"/>
          <p:cNvSpPr/>
          <p:nvPr/>
        </p:nvSpPr>
        <p:spPr>
          <a:xfrm>
            <a:off x="795240" y="2697480"/>
            <a:ext cx="6217920" cy="360"/>
          </a:xfrm>
          <a:prstGeom prst="line">
            <a:avLst/>
          </a:prstGeom>
          <a:ln w="9525">
            <a:solidFill>
              <a:srgbClr val="E3E0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9"/>
          <p:cNvSpPr/>
          <p:nvPr/>
        </p:nvSpPr>
        <p:spPr>
          <a:xfrm>
            <a:off x="795600" y="283464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FROTA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0"/>
          <p:cNvSpPr/>
          <p:nvPr/>
        </p:nvSpPr>
        <p:spPr>
          <a:xfrm>
            <a:off x="2395800" y="278892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exatamente 107 USB e 16 USA, como hoje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795240" y="3337560"/>
            <a:ext cx="6217920" cy="360"/>
          </a:xfrm>
          <a:prstGeom prst="line">
            <a:avLst/>
          </a:prstGeom>
          <a:ln w="9525">
            <a:solidFill>
              <a:srgbClr val="E3E0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795600" y="347472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CAPACIDADE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3"/>
          <p:cNvSpPr/>
          <p:nvPr/>
        </p:nvSpPr>
        <p:spPr>
          <a:xfrm>
            <a:off x="2395800" y="342900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no máximo 10 unidades por local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14"/>
          <p:cNvSpPr/>
          <p:nvPr/>
        </p:nvSpPr>
        <p:spPr>
          <a:xfrm>
            <a:off x="795240" y="3977640"/>
            <a:ext cx="6217920" cy="360"/>
          </a:xfrm>
          <a:prstGeom prst="line">
            <a:avLst/>
          </a:prstGeom>
          <a:ln w="9525">
            <a:solidFill>
              <a:srgbClr val="E3E0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15"/>
          <p:cNvSpPr/>
          <p:nvPr/>
        </p:nvSpPr>
        <p:spPr>
          <a:xfrm>
            <a:off x="795600" y="411480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MUDANÇA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6"/>
          <p:cNvSpPr/>
          <p:nvPr/>
        </p:nvSpPr>
        <p:spPr>
          <a:xfrm>
            <a:off x="2395800" y="406908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no máximo K unidades saem do local onde estão hoje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17"/>
          <p:cNvSpPr/>
          <p:nvPr/>
        </p:nvSpPr>
        <p:spPr>
          <a:xfrm>
            <a:off x="795240" y="4617720"/>
            <a:ext cx="6217920" cy="360"/>
          </a:xfrm>
          <a:prstGeom prst="line">
            <a:avLst/>
          </a:prstGeom>
          <a:ln w="9525">
            <a:solidFill>
              <a:srgbClr val="E3E0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8"/>
          <p:cNvSpPr/>
          <p:nvPr/>
        </p:nvSpPr>
        <p:spPr>
          <a:xfrm>
            <a:off x="795600" y="4754880"/>
            <a:ext cx="1554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1" u="none" spc="9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PISOS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9"/>
          <p:cNvSpPr/>
          <p:nvPr/>
        </p:nvSpPr>
        <p:spPr>
          <a:xfrm>
            <a:off x="2395800" y="4709160"/>
            <a:ext cx="4663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coberturas do chamado básico e do grave ≥ as de hoje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20"/>
          <p:cNvSpPr/>
          <p:nvPr/>
        </p:nvSpPr>
        <p:spPr>
          <a:xfrm>
            <a:off x="7516440" y="1463040"/>
            <a:ext cx="420120" cy="4201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21"/>
          <p:cNvSpPr/>
          <p:nvPr/>
        </p:nvSpPr>
        <p:spPr>
          <a:xfrm>
            <a:off x="7516440" y="14630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λ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22"/>
          <p:cNvSpPr/>
          <p:nvPr/>
        </p:nvSpPr>
        <p:spPr>
          <a:xfrm>
            <a:off x="8083440" y="1444680"/>
            <a:ext cx="354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Peso da equidade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23"/>
          <p:cNvSpPr/>
          <p:nvPr/>
        </p:nvSpPr>
        <p:spPr>
          <a:xfrm>
            <a:off x="8083440" y="1737360"/>
            <a:ext cx="35474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Com λ = 0 só conta a média da cidade. Com λ &gt; 0, melhorar a sobrevida de quem está nos 10% piores vale mais: na margem, 1 + λ/0,10 vezes o mesmo ganho para qualquer outra pessoa (com λ = 1, 11 vezes).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24"/>
          <p:cNvSpPr/>
          <p:nvPr/>
        </p:nvSpPr>
        <p:spPr>
          <a:xfrm>
            <a:off x="7516440" y="3291840"/>
            <a:ext cx="420120" cy="42012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5"/>
          <p:cNvSpPr/>
          <p:nvPr/>
        </p:nvSpPr>
        <p:spPr>
          <a:xfrm>
            <a:off x="7516440" y="329184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6"/>
          <p:cNvSpPr/>
          <p:nvPr/>
        </p:nvSpPr>
        <p:spPr>
          <a:xfrm>
            <a:off x="8083440" y="3273480"/>
            <a:ext cx="3547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Tamanho da mudança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27"/>
          <p:cNvSpPr/>
          <p:nvPr/>
        </p:nvSpPr>
        <p:spPr>
          <a:xfrm>
            <a:off x="8083440" y="3566160"/>
            <a:ext cx="35474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Quantas ambulâncias a gestão aceita mudar de base. Testamos K = 10, 20, 40, 80 e sem limite.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Shape 28"/>
          <p:cNvSpPr/>
          <p:nvPr/>
        </p:nvSpPr>
        <p:spPr>
          <a:xfrm>
            <a:off x="7516440" y="4434840"/>
            <a:ext cx="4114440" cy="959760"/>
          </a:xfrm>
          <a:prstGeom prst="roundRect">
            <a:avLst>
              <a:gd name="adj" fmla="val 9524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9"/>
          <p:cNvSpPr/>
          <p:nvPr/>
        </p:nvSpPr>
        <p:spPr>
          <a:xfrm>
            <a:off x="7745040" y="4480560"/>
            <a:ext cx="3657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Cada combinação de λ, K e piso é uma configuração resolvida separadamente: 27 no total.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30"/>
          <p:cNvSpPr/>
          <p:nvPr/>
        </p:nvSpPr>
        <p:spPr>
          <a:xfrm>
            <a:off x="567000" y="56692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Vidas e CVaR₁₀ estão na mesma unidade — sobreviventes por 1.000 paradas cardíacas —, por isso faz sentido somá-los com o peso λ.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PASSO 5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Como resolver: o tamanho vem dos setores, não dos locais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13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3"/>
          <p:cNvSpPr/>
          <p:nvPr/>
        </p:nvSpPr>
        <p:spPr>
          <a:xfrm>
            <a:off x="567000" y="1371600"/>
            <a:ext cx="274284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4"/>
          <p:cNvSpPr/>
          <p:nvPr/>
        </p:nvSpPr>
        <p:spPr>
          <a:xfrm>
            <a:off x="795600" y="14814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E7D5A"/>
                </a:solidFill>
                <a:effectLst/>
                <a:uFillTx/>
                <a:latin typeface="Cambria"/>
                <a:ea typeface="Cambria"/>
              </a:rPr>
              <a:t>2.214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5"/>
          <p:cNvSpPr/>
          <p:nvPr/>
        </p:nvSpPr>
        <p:spPr>
          <a:xfrm>
            <a:off x="795600" y="210312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variáveis de decisão: duas por local candidato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6"/>
          <p:cNvSpPr/>
          <p:nvPr/>
        </p:nvSpPr>
        <p:spPr>
          <a:xfrm>
            <a:off x="3493080" y="1371600"/>
            <a:ext cx="274284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7"/>
          <p:cNvSpPr/>
          <p:nvPr/>
        </p:nvSpPr>
        <p:spPr>
          <a:xfrm>
            <a:off x="3721680" y="1481400"/>
            <a:ext cx="22856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B6834"/>
                </a:solidFill>
                <a:effectLst/>
                <a:uFillTx/>
                <a:latin typeface="Cambria"/>
                <a:ea typeface="Cambria"/>
              </a:rPr>
              <a:t>~27 mi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8"/>
          <p:cNvSpPr/>
          <p:nvPr/>
        </p:nvSpPr>
        <p:spPr>
          <a:xfrm>
            <a:off x="3721680" y="2103120"/>
            <a:ext cx="2285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restrições num programa inteiro exato: 26.889 setores × 30 faixas de tempo × 34 cortes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Shape 9"/>
          <p:cNvSpPr/>
          <p:nvPr/>
        </p:nvSpPr>
        <p:spPr>
          <a:xfrm>
            <a:off x="6419160" y="1371600"/>
            <a:ext cx="5211720" cy="1462680"/>
          </a:xfrm>
          <a:prstGeom prst="roundRect">
            <a:avLst>
              <a:gd name="adj" fmla="val 6250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0"/>
          <p:cNvSpPr/>
          <p:nvPr/>
        </p:nvSpPr>
        <p:spPr>
          <a:xfrm>
            <a:off x="6647760" y="1417320"/>
            <a:ext cx="4754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Agrupar setores em zonas encolhe o problema, mas distorce a sobrevida em ~20%. Com zonas pequenas, o solver não termina em tempo útil. Por isso não usamos o programa inteiro como otimizador principal.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11"/>
          <p:cNvSpPr/>
          <p:nvPr/>
        </p:nvSpPr>
        <p:spPr>
          <a:xfrm>
            <a:off x="567000" y="3017520"/>
            <a:ext cx="11063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 solução: uma busca local que avalia a sobrevida exata em todos os setores a cada passo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12"/>
          <p:cNvSpPr/>
          <p:nvPr/>
        </p:nvSpPr>
        <p:spPr>
          <a:xfrm>
            <a:off x="567000" y="3474720"/>
            <a:ext cx="2559960" cy="1599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13"/>
          <p:cNvSpPr/>
          <p:nvPr/>
        </p:nvSpPr>
        <p:spPr>
          <a:xfrm>
            <a:off x="749880" y="3611880"/>
            <a:ext cx="420120" cy="42012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14"/>
          <p:cNvSpPr/>
          <p:nvPr/>
        </p:nvSpPr>
        <p:spPr>
          <a:xfrm>
            <a:off x="749880" y="36118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15"/>
          <p:cNvSpPr/>
          <p:nvPr/>
        </p:nvSpPr>
        <p:spPr>
          <a:xfrm>
            <a:off x="1298520" y="36302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Tirar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16"/>
          <p:cNvSpPr/>
          <p:nvPr/>
        </p:nvSpPr>
        <p:spPr>
          <a:xfrm>
            <a:off x="749880" y="411480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uma ambulância de um local.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Shape 17"/>
          <p:cNvSpPr/>
          <p:nvPr/>
        </p:nvSpPr>
        <p:spPr>
          <a:xfrm>
            <a:off x="3145320" y="4206240"/>
            <a:ext cx="21960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18"/>
          <p:cNvSpPr/>
          <p:nvPr/>
        </p:nvSpPr>
        <p:spPr>
          <a:xfrm>
            <a:off x="3383280" y="3474720"/>
            <a:ext cx="2559960" cy="1599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19"/>
          <p:cNvSpPr/>
          <p:nvPr/>
        </p:nvSpPr>
        <p:spPr>
          <a:xfrm>
            <a:off x="3566160" y="3611880"/>
            <a:ext cx="420120" cy="42012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20"/>
          <p:cNvSpPr/>
          <p:nvPr/>
        </p:nvSpPr>
        <p:spPr>
          <a:xfrm>
            <a:off x="3566160" y="36118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21"/>
          <p:cNvSpPr/>
          <p:nvPr/>
        </p:nvSpPr>
        <p:spPr>
          <a:xfrm>
            <a:off x="4114800" y="36302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Avaliar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2"/>
          <p:cNvSpPr/>
          <p:nvPr/>
        </p:nvSpPr>
        <p:spPr>
          <a:xfrm>
            <a:off x="3566160" y="411480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ganho de pô-la em cada um dos outros locais, todos de uma vez.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Shape 23"/>
          <p:cNvSpPr/>
          <p:nvPr/>
        </p:nvSpPr>
        <p:spPr>
          <a:xfrm>
            <a:off x="5961600" y="4206240"/>
            <a:ext cx="21960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Shape 24"/>
          <p:cNvSpPr/>
          <p:nvPr/>
        </p:nvSpPr>
        <p:spPr>
          <a:xfrm>
            <a:off x="6199560" y="3474720"/>
            <a:ext cx="2559960" cy="1599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25"/>
          <p:cNvSpPr/>
          <p:nvPr/>
        </p:nvSpPr>
        <p:spPr>
          <a:xfrm>
            <a:off x="6382440" y="3611880"/>
            <a:ext cx="420120" cy="42012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26"/>
          <p:cNvSpPr/>
          <p:nvPr/>
        </p:nvSpPr>
        <p:spPr>
          <a:xfrm>
            <a:off x="6382440" y="36118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27"/>
          <p:cNvSpPr/>
          <p:nvPr/>
        </p:nvSpPr>
        <p:spPr>
          <a:xfrm>
            <a:off x="6931080" y="36302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Aceitar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28"/>
          <p:cNvSpPr/>
          <p:nvPr/>
        </p:nvSpPr>
        <p:spPr>
          <a:xfrm>
            <a:off x="6382440" y="411480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melhor troca que respeita a frota, o limite K e os pisos.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29"/>
          <p:cNvSpPr/>
          <p:nvPr/>
        </p:nvSpPr>
        <p:spPr>
          <a:xfrm>
            <a:off x="8778240" y="4206240"/>
            <a:ext cx="219240" cy="360"/>
          </a:xfrm>
          <a:prstGeom prst="line">
            <a:avLst/>
          </a:prstGeom>
          <a:ln w="19050">
            <a:solidFill>
              <a:srgbClr val="8A8F98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30"/>
          <p:cNvSpPr/>
          <p:nvPr/>
        </p:nvSpPr>
        <p:spPr>
          <a:xfrm>
            <a:off x="9015840" y="3474720"/>
            <a:ext cx="2559960" cy="15998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Shape 31"/>
          <p:cNvSpPr/>
          <p:nvPr/>
        </p:nvSpPr>
        <p:spPr>
          <a:xfrm>
            <a:off x="9198720" y="3611880"/>
            <a:ext cx="420120" cy="42012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32"/>
          <p:cNvSpPr/>
          <p:nvPr/>
        </p:nvSpPr>
        <p:spPr>
          <a:xfrm>
            <a:off x="9198720" y="361188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33"/>
          <p:cNvSpPr/>
          <p:nvPr/>
        </p:nvSpPr>
        <p:spPr>
          <a:xfrm>
            <a:off x="9747360" y="3630240"/>
            <a:ext cx="1737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Sacudir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34"/>
          <p:cNvSpPr/>
          <p:nvPr/>
        </p:nvSpPr>
        <p:spPr>
          <a:xfrm>
            <a:off x="9198720" y="4114800"/>
            <a:ext cx="2239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3 ambulâncias ao acaso e repetir (10 vezes), para não parar num ótimo local.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35"/>
          <p:cNvSpPr/>
          <p:nvPr/>
        </p:nvSpPr>
        <p:spPr>
          <a:xfrm>
            <a:off x="567000" y="53492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O programa inteiro fica como conferência: em casos pequenos, onde dá para testar todas as combinações, a busca e o solver encontram o mesmo ótimo da força bruta.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36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Daskin (1983)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Rockafellar &amp; Uryasev (2000)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v3_busca.json, v4_limite.json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H1 · Os mapas que já existiam, medidos em vidas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95" name="Chart 0"/>
          <p:cNvGraphicFramePr/>
          <p:nvPr/>
        </p:nvGraphicFramePr>
        <p:xfrm>
          <a:off x="567000" y="1325880"/>
          <a:ext cx="6949080" cy="434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96" name="Text 3"/>
          <p:cNvSpPr/>
          <p:nvPr/>
        </p:nvSpPr>
        <p:spPr>
          <a:xfrm>
            <a:off x="567000" y="566928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sobreviventes por 1.000 paradas cardíacas, todos medidos com o mesmo modelo e os mesmos tempos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4"/>
          <p:cNvSpPr/>
          <p:nvPr/>
        </p:nvSpPr>
        <p:spPr>
          <a:xfrm>
            <a:off x="7772400" y="1371600"/>
            <a:ext cx="3858480" cy="2331360"/>
          </a:xfrm>
          <a:prstGeom prst="roundRect">
            <a:avLst>
              <a:gd name="adj" fmla="val 3922"/>
            </a:avLst>
          </a:prstGeom>
          <a:solidFill>
            <a:srgbClr val="FBEAE7"/>
          </a:solidFill>
          <a:ln w="12700">
            <a:solidFill>
              <a:srgbClr val="FBEA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5"/>
          <p:cNvSpPr/>
          <p:nvPr/>
        </p:nvSpPr>
        <p:spPr>
          <a:xfrm>
            <a:off x="8001000" y="150876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EB6834"/>
                </a:solidFill>
                <a:effectLst/>
                <a:uFillTx/>
                <a:latin typeface="Calibri"/>
                <a:ea typeface="Calibri"/>
              </a:rPr>
              <a:t>O Gini não salvou mais vidas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Text 6"/>
          <p:cNvSpPr/>
          <p:nvPr/>
        </p:nvSpPr>
        <p:spPr>
          <a:xfrm>
            <a:off x="8001000" y="1874520"/>
            <a:ext cx="34743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Os redesenhos guiados pelo Gini nas fases 2 e 2b (em laranja) chegam a no máximo 62,2 sobreviventes por 1.000 — abaixo do p-median (62,5). Igualar o número de ambulâncias por habitante não garante chegar a tempo.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7"/>
          <p:cNvSpPr/>
          <p:nvPr/>
        </p:nvSpPr>
        <p:spPr>
          <a:xfrm>
            <a:off x="7772400" y="3886200"/>
            <a:ext cx="3858480" cy="1782720"/>
          </a:xfrm>
          <a:prstGeom prst="roundRect">
            <a:avLst>
              <a:gd name="adj" fmla="val 5128"/>
            </a:avLst>
          </a:prstGeom>
          <a:solidFill>
            <a:srgbClr val="E6F0EA"/>
          </a:solidFill>
          <a:ln w="12700">
            <a:solidFill>
              <a:srgbClr val="E6F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8"/>
          <p:cNvSpPr/>
          <p:nvPr/>
        </p:nvSpPr>
        <p:spPr>
          <a:xfrm>
            <a:off x="8001000" y="402336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E7D5A"/>
                </a:solidFill>
                <a:effectLst/>
                <a:uFillTx/>
                <a:latin typeface="Calibri"/>
                <a:ea typeface="Calibri"/>
              </a:rPr>
              <a:t>O otimizado por vidas fica no topo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9"/>
          <p:cNvSpPr/>
          <p:nvPr/>
        </p:nvSpPr>
        <p:spPr>
          <a:xfrm>
            <a:off x="8001000" y="4389120"/>
            <a:ext cx="34743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mapa da fase 3 salva 63,8 de cada 1.000, contra 44,1 da rede de hoje (em cinza).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10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v2_reavaliacao.json, v3_busca.json, v6_robustez.json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H1 · Muito melhor que hoje; um pouco melhor que o p-median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3"/>
          <p:cNvSpPr/>
          <p:nvPr/>
        </p:nvSpPr>
        <p:spPr>
          <a:xfrm>
            <a:off x="567000" y="137160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"/>
          <p:cNvSpPr/>
          <p:nvPr/>
        </p:nvSpPr>
        <p:spPr>
          <a:xfrm>
            <a:off x="795600" y="148140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8A8F98"/>
                </a:solidFill>
                <a:effectLst/>
                <a:uFillTx/>
                <a:latin typeface="Cambria"/>
                <a:ea typeface="Cambria"/>
              </a:rPr>
              <a:t>44,1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795600" y="210312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rede de hoje: sobreviventes por 1.000 paradas cardíacas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6"/>
          <p:cNvSpPr/>
          <p:nvPr/>
        </p:nvSpPr>
        <p:spPr>
          <a:xfrm>
            <a:off x="4334400" y="137160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7"/>
          <p:cNvSpPr/>
          <p:nvPr/>
        </p:nvSpPr>
        <p:spPr>
          <a:xfrm>
            <a:off x="4563000" y="148140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A78D6"/>
                </a:solidFill>
                <a:effectLst/>
                <a:uFillTx/>
                <a:latin typeface="Cambria"/>
                <a:ea typeface="Cambria"/>
              </a:rPr>
              <a:t>62,5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8"/>
          <p:cNvSpPr/>
          <p:nvPr/>
        </p:nvSpPr>
        <p:spPr>
          <a:xfrm>
            <a:off x="4563000" y="210312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p-median clássico (minimiza o tempo médio)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Shape 9"/>
          <p:cNvSpPr/>
          <p:nvPr/>
        </p:nvSpPr>
        <p:spPr>
          <a:xfrm>
            <a:off x="8101440" y="137160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10"/>
          <p:cNvSpPr/>
          <p:nvPr/>
        </p:nvSpPr>
        <p:spPr>
          <a:xfrm>
            <a:off x="8330040" y="148140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E7D5A"/>
                </a:solidFill>
                <a:effectLst/>
                <a:uFillTx/>
                <a:latin typeface="Cambria"/>
                <a:ea typeface="Cambria"/>
              </a:rPr>
              <a:t>63,8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1"/>
          <p:cNvSpPr/>
          <p:nvPr/>
        </p:nvSpPr>
        <p:spPr>
          <a:xfrm>
            <a:off x="8330040" y="210312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otimizado por vidas: 45% a mais que hoje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16" name="Table 0"/>
          <p:cNvGraphicFramePr/>
          <p:nvPr/>
        </p:nvGraphicFramePr>
        <p:xfrm>
          <a:off x="567000" y="3063240"/>
          <a:ext cx="6674760" cy="1919880"/>
        </p:xfrm>
        <a:graphic>
          <a:graphicData uri="http://schemas.openxmlformats.org/drawingml/2006/table">
            <a:tbl>
              <a:tblPr/>
              <a:tblGrid>
                <a:gridCol w="2743200"/>
                <a:gridCol w="1965960"/>
                <a:gridCol w="196596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/>
                      <a:endParaRPr lang="en-US" sz="1300" b="0" u="none" strike="noStrike">
                        <a:solidFill>
                          <a:schemeClr val="dk1"/>
                        </a:solidFill>
                        <a:effectLst/>
                        <a:uFillTx/>
                        <a:latin typeface="Calibri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p-median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otimizado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vidas na cidade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62,5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63,8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vidas nos 10% piores (CVaR₁₀)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25,3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17,7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USA a até 15 min, chamado grave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53,6%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53,6%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ambulâncias que mudam de base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116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7" name="Shape 12"/>
          <p:cNvSpPr/>
          <p:nvPr/>
        </p:nvSpPr>
        <p:spPr>
          <a:xfrm>
            <a:off x="7589520" y="3063240"/>
            <a:ext cx="4041360" cy="2331360"/>
          </a:xfrm>
          <a:prstGeom prst="roundRect">
            <a:avLst>
              <a:gd name="adj" fmla="val 3922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 13"/>
          <p:cNvSpPr/>
          <p:nvPr/>
        </p:nvSpPr>
        <p:spPr>
          <a:xfrm>
            <a:off x="7818120" y="3200400"/>
            <a:ext cx="3657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Veredito de H1: parcial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4"/>
          <p:cNvSpPr/>
          <p:nvPr/>
        </p:nvSpPr>
        <p:spPr>
          <a:xfrm>
            <a:off x="7818120" y="3566160"/>
            <a:ext cx="365724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Confirmada contra a rede de hoje e contra os mapas do Gini. Contra o p-median, o ganho é pequeno: +1,3 por 1.000 paradas (~8 vidas por ano) e com menos equidade nos 10% piores.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15"/>
          <p:cNvSpPr/>
          <p:nvPr/>
        </p:nvSpPr>
        <p:spPr>
          <a:xfrm>
            <a:off x="567000" y="56692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Entre o otimizado e o p-median, a escolha é de valores — mais vidas na média ou mais nos piores —, não de técnica.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6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v2_reavaliacao.json, v3_busca.json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H2 · Quanto rende mover só parte da frota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16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5" name="Chart 0"/>
          <p:cNvGraphicFramePr/>
          <p:nvPr/>
        </p:nvGraphicFramePr>
        <p:xfrm>
          <a:off x="567000" y="1325880"/>
          <a:ext cx="6949080" cy="416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6" name="Text 3"/>
          <p:cNvSpPr/>
          <p:nvPr/>
        </p:nvSpPr>
        <p:spPr>
          <a:xfrm>
            <a:off x="567000" y="548640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sobreviventes por 1.000 paradas cardíacas (λ = 0, piso de hoje)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27" name="Table 0"/>
          <p:cNvGraphicFramePr/>
          <p:nvPr/>
        </p:nvGraphicFramePr>
        <p:xfrm>
          <a:off x="7772400" y="1371600"/>
          <a:ext cx="3858480" cy="191988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98160"/>
              </a:tblGrid>
              <a:tr h="38376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movidas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km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do ganho</a:t>
                      </a:r>
                      <a:endParaRPr lang="pt-BR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 = 10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94 km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 = 20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93 km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37%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 = 40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202 km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61%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38376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K = 80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293 km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87%</a:t>
                      </a:r>
                      <a:endParaRPr lang="pt-BR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8" name="Text 4"/>
          <p:cNvSpPr/>
          <p:nvPr/>
        </p:nvSpPr>
        <p:spPr>
          <a:xfrm>
            <a:off x="7772400" y="3429000"/>
            <a:ext cx="38584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"Do ganho" compara com o redesenho sem limite, que move 113 ambulâncias. O p-median também é um redesenho completo: move 120.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hape 5"/>
          <p:cNvSpPr/>
          <p:nvPr/>
        </p:nvSpPr>
        <p:spPr>
          <a:xfrm>
            <a:off x="7772400" y="4434840"/>
            <a:ext cx="3858480" cy="1051200"/>
          </a:xfrm>
          <a:prstGeom prst="roundRect">
            <a:avLst>
              <a:gd name="adj" fmla="val 8696"/>
            </a:avLst>
          </a:prstGeom>
          <a:solidFill>
            <a:srgbClr val="E6F0EA"/>
          </a:solidFill>
          <a:ln w="12700">
            <a:solidFill>
              <a:srgbClr val="E6F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6"/>
          <p:cNvSpPr/>
          <p:nvPr/>
        </p:nvSpPr>
        <p:spPr>
          <a:xfrm>
            <a:off x="8001000" y="4480560"/>
            <a:ext cx="3474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H2 confirmada: mudar 20 ambulâncias de base entrega 37% do ganho; 40 ambulâncias, 61%.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7"/>
          <p:cNvSpPr/>
          <p:nvPr/>
        </p:nvSpPr>
        <p:spPr>
          <a:xfrm>
            <a:off x="567000" y="58064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Os primeiros movimentos são os que mais rendem: cada ambulância movida acrescenta menos que a anterior. Uma mudança em etapas é possível.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8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v3_busca.json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 piso do chamado grave quase não custa vidas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17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3"/>
          <p:cNvSpPr/>
          <p:nvPr/>
        </p:nvSpPr>
        <p:spPr>
          <a:xfrm>
            <a:off x="567000" y="1371600"/>
            <a:ext cx="11063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Comparamos o melhor mapa só por vidas com o melhor mapa que também exige, para o chamado grave, a cobertura do p-median: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Shape 4"/>
          <p:cNvSpPr/>
          <p:nvPr/>
        </p:nvSpPr>
        <p:spPr>
          <a:xfrm>
            <a:off x="567000" y="1920240"/>
            <a:ext cx="3520080" cy="2514240"/>
          </a:xfrm>
          <a:prstGeom prst="roundRect">
            <a:avLst>
              <a:gd name="adj" fmla="val 3636"/>
            </a:avLst>
          </a:prstGeom>
          <a:solidFill>
            <a:srgbClr val="FBEAE7"/>
          </a:solidFill>
          <a:ln w="12700">
            <a:solidFill>
              <a:srgbClr val="FBEA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5"/>
          <p:cNvSpPr/>
          <p:nvPr/>
        </p:nvSpPr>
        <p:spPr>
          <a:xfrm>
            <a:off x="795600" y="20300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B6834"/>
                </a:solidFill>
                <a:effectLst/>
                <a:uFillTx/>
                <a:latin typeface="Calibri"/>
                <a:ea typeface="Calibri"/>
              </a:rPr>
              <a:t>Só vidas (λ = 0, piso de hoje)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6"/>
          <p:cNvSpPr/>
          <p:nvPr/>
        </p:nvSpPr>
        <p:spPr>
          <a:xfrm>
            <a:off x="795600" y="239580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63,9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7"/>
          <p:cNvSpPr/>
          <p:nvPr/>
        </p:nvSpPr>
        <p:spPr>
          <a:xfrm>
            <a:off x="795600" y="29260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sobreviventes por 1.000 paradas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8"/>
          <p:cNvSpPr/>
          <p:nvPr/>
        </p:nvSpPr>
        <p:spPr>
          <a:xfrm>
            <a:off x="795600" y="333756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41,4%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9"/>
          <p:cNvSpPr/>
          <p:nvPr/>
        </p:nvSpPr>
        <p:spPr>
          <a:xfrm>
            <a:off x="795600" y="38862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chance de uma USA a até 15 min no chamado grave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10"/>
          <p:cNvSpPr/>
          <p:nvPr/>
        </p:nvSpPr>
        <p:spPr>
          <a:xfrm>
            <a:off x="4334400" y="1920240"/>
            <a:ext cx="3520080" cy="2514240"/>
          </a:xfrm>
          <a:prstGeom prst="roundRect">
            <a:avLst>
              <a:gd name="adj" fmla="val 3636"/>
            </a:avLst>
          </a:prstGeom>
          <a:solidFill>
            <a:srgbClr val="E6F0EA"/>
          </a:solidFill>
          <a:ln w="12700">
            <a:solidFill>
              <a:srgbClr val="E6F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1"/>
          <p:cNvSpPr/>
          <p:nvPr/>
        </p:nvSpPr>
        <p:spPr>
          <a:xfrm>
            <a:off x="4563000" y="20300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E7D5A"/>
                </a:solidFill>
                <a:effectLst/>
                <a:uFillTx/>
                <a:latin typeface="Calibri"/>
                <a:ea typeface="Calibri"/>
              </a:rPr>
              <a:t>Com o piso do p-median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12"/>
          <p:cNvSpPr/>
          <p:nvPr/>
        </p:nvSpPr>
        <p:spPr>
          <a:xfrm>
            <a:off x="4563000" y="239580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63,8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13"/>
          <p:cNvSpPr/>
          <p:nvPr/>
        </p:nvSpPr>
        <p:spPr>
          <a:xfrm>
            <a:off x="4563000" y="29260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sobreviventes por 1.000 paradas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14"/>
          <p:cNvSpPr/>
          <p:nvPr/>
        </p:nvSpPr>
        <p:spPr>
          <a:xfrm>
            <a:off x="4563000" y="3337560"/>
            <a:ext cx="3108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53,6%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15"/>
          <p:cNvSpPr/>
          <p:nvPr/>
        </p:nvSpPr>
        <p:spPr>
          <a:xfrm>
            <a:off x="4563000" y="3886200"/>
            <a:ext cx="3108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chance de uma USA a até 15 min no chamado grave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16"/>
          <p:cNvSpPr/>
          <p:nvPr/>
        </p:nvSpPr>
        <p:spPr>
          <a:xfrm>
            <a:off x="8101440" y="1920240"/>
            <a:ext cx="3529080" cy="25142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17"/>
          <p:cNvSpPr/>
          <p:nvPr/>
        </p:nvSpPr>
        <p:spPr>
          <a:xfrm>
            <a:off x="8321040" y="203004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Por que o piso é preciso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8"/>
          <p:cNvSpPr/>
          <p:nvPr/>
        </p:nvSpPr>
        <p:spPr>
          <a:xfrm>
            <a:off x="8321040" y="2395800"/>
            <a:ext cx="3108600" cy="196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Na parada cardíaca, a USB com desfibrilador costuma chegar primeiro. O objetivo, então, não enxerga os chamados que só a USA resolve (AVC, infarto, trauma grave) e deixa a USA perto do piso de hoje.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19"/>
          <p:cNvSpPr/>
          <p:nvPr/>
        </p:nvSpPr>
        <p:spPr>
          <a:xfrm>
            <a:off x="567000" y="4617720"/>
            <a:ext cx="11063880" cy="868320"/>
          </a:xfrm>
          <a:prstGeom prst="roundRect">
            <a:avLst>
              <a:gd name="adj" fmla="val 10526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20"/>
          <p:cNvSpPr/>
          <p:nvPr/>
        </p:nvSpPr>
        <p:spPr>
          <a:xfrm>
            <a:off x="841320" y="4663440"/>
            <a:ext cx="105152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Um limite: com K limitado, a cobertura do p-median não é alcançável a partir da rede de hoje. Os mapas com K ficam com 40–44% de cobertura grave.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21"/>
          <p:cNvSpPr/>
          <p:nvPr/>
        </p:nvSpPr>
        <p:spPr>
          <a:xfrm>
            <a:off x="567000" y="562356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Exigir a cobertura do p-median custa só 0,1 sobrevivente por 1.000 e protege o chamado grave. Por isso a recomendação usa esse piso: a parada cardíaca sozinha não basta como objetivo.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22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v3_busca.json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Equidade: um ponto de escolha, não de técnica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18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9" name="Image 0" descr="C:\Users\lucas\Documents\MECAI\Estatistica\samu-usb-usa\figs\fase3\v01_fronteira.png"/>
          <p:cNvPicPr/>
          <p:nvPr/>
        </p:nvPicPr>
        <p:blipFill>
          <a:blip r:embed="rId1"/>
          <a:stretch/>
        </p:blipFill>
        <p:spPr>
          <a:xfrm>
            <a:off x="567000" y="1325880"/>
            <a:ext cx="6766200" cy="409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0" name="Shape 3"/>
          <p:cNvSpPr/>
          <p:nvPr/>
        </p:nvSpPr>
        <p:spPr>
          <a:xfrm>
            <a:off x="7589520" y="1371600"/>
            <a:ext cx="4041360" cy="9597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4"/>
          <p:cNvSpPr/>
          <p:nvPr/>
        </p:nvSpPr>
        <p:spPr>
          <a:xfrm>
            <a:off x="7772400" y="14446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A78D6"/>
                </a:solidFill>
                <a:effectLst/>
                <a:uFillTx/>
                <a:latin typeface="Calibri"/>
                <a:ea typeface="Calibri"/>
              </a:rPr>
              <a:t>p-median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5"/>
          <p:cNvSpPr/>
          <p:nvPr/>
        </p:nvSpPr>
        <p:spPr>
          <a:xfrm>
            <a:off x="7772400" y="17830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62,5 na cidade · 25,3 nos 10% piores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Shape 6"/>
          <p:cNvSpPr/>
          <p:nvPr/>
        </p:nvSpPr>
        <p:spPr>
          <a:xfrm>
            <a:off x="7589520" y="2468880"/>
            <a:ext cx="4041360" cy="9597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7"/>
          <p:cNvSpPr/>
          <p:nvPr/>
        </p:nvSpPr>
        <p:spPr>
          <a:xfrm>
            <a:off x="7772400" y="254196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E7D5A"/>
                </a:solidFill>
                <a:effectLst/>
                <a:uFillTx/>
                <a:latin typeface="Calibri"/>
                <a:ea typeface="Calibri"/>
              </a:rPr>
              <a:t>otimizado, λ = 0 · piso p-median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8"/>
          <p:cNvSpPr/>
          <p:nvPr/>
        </p:nvSpPr>
        <p:spPr>
          <a:xfrm>
            <a:off x="7772400" y="288036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63,8 na cidade · 17,7 nos 10% piores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9"/>
          <p:cNvSpPr/>
          <p:nvPr/>
        </p:nvSpPr>
        <p:spPr>
          <a:xfrm>
            <a:off x="7589520" y="3566160"/>
            <a:ext cx="4041360" cy="95976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10"/>
          <p:cNvSpPr/>
          <p:nvPr/>
        </p:nvSpPr>
        <p:spPr>
          <a:xfrm>
            <a:off x="7772400" y="36392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otimizado, λ = 1 · piso p-median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11"/>
          <p:cNvSpPr/>
          <p:nvPr/>
        </p:nvSpPr>
        <p:spPr>
          <a:xfrm>
            <a:off x="7772400" y="397764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61,8 na cidade · 26,9 nos 10% piores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12"/>
          <p:cNvSpPr/>
          <p:nvPr/>
        </p:nvSpPr>
        <p:spPr>
          <a:xfrm>
            <a:off x="7589520" y="4709160"/>
            <a:ext cx="404136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Aumentar λ troca vidas da média por vidas dos piores. O p-median fica praticamente sobre essa fronteira: ele já é um bom equilíbrio entre as duas coisas.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13"/>
          <p:cNvSpPr/>
          <p:nvPr/>
        </p:nvSpPr>
        <p:spPr>
          <a:xfrm>
            <a:off x="567000" y="576072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Qual ponto defender — mais vidas no total ou mais vidas para quem está mais longe — é uma decisão de valores do grupo, não algo que o modelo decide.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14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v3_busca.json, v2_reavaliacao.json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RESULTADOS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Onde a sobrevida muda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19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5" name="Image 0" descr="C:\Users\lucas\Documents\MECAI\Estatistica\samu-usb-usa\figs\fase3\v03_mapa.png"/>
          <p:cNvPicPr/>
          <p:nvPr/>
        </p:nvPicPr>
        <p:blipFill>
          <a:blip r:embed="rId1"/>
          <a:stretch/>
        </p:blipFill>
        <p:spPr>
          <a:xfrm>
            <a:off x="2301120" y="1234440"/>
            <a:ext cx="7589160" cy="452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Text 3"/>
          <p:cNvSpPr/>
          <p:nvPr/>
        </p:nvSpPr>
        <p:spPr>
          <a:xfrm>
            <a:off x="567000" y="580644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Sobrevida a uma parada cardíaca em cada setor, na rede de hoje e no mapa recomendado. Círculos: USB; triângulos: USA (o tamanho indica quantas unidades há no local). O mapa novo espalha as bases e clareia a periferia.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4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figs/fase3/v03_mapa.png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CONFERÊNCIA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H3 · Modelo e simulação: duas formas de calcular a mesma coisa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3"/>
          <p:cNvSpPr/>
          <p:nvPr/>
        </p:nvSpPr>
        <p:spPr>
          <a:xfrm>
            <a:off x="567000" y="137160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Os números até aqui saíram de uma fórmula (o modelo). Para saber se a fórmula engana, calculamos as mesmas vidas de outro jeito, sem a sua principal simplificação (a simulação).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4"/>
          <p:cNvSpPr/>
          <p:nvPr/>
        </p:nvSpPr>
        <p:spPr>
          <a:xfrm>
            <a:off x="567000" y="2148840"/>
            <a:ext cx="5394600" cy="3245760"/>
          </a:xfrm>
          <a:prstGeom prst="roundRect">
            <a:avLst>
              <a:gd name="adj" fmla="val 2817"/>
            </a:avLst>
          </a:prstGeom>
          <a:solidFill>
            <a:srgbClr val="E7F0F7"/>
          </a:solidFill>
          <a:ln w="12700">
            <a:solidFill>
              <a:srgbClr val="E7F0F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841320" y="228600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0F3D5C"/>
                </a:solidFill>
                <a:effectLst/>
                <a:uFillTx/>
                <a:latin typeface="Calibri"/>
                <a:ea typeface="Calibri"/>
              </a:rPr>
              <a:t>O modelo: uma fórmula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6"/>
          <p:cNvSpPr/>
          <p:nvPr/>
        </p:nvSpPr>
        <p:spPr>
          <a:xfrm>
            <a:off x="841320" y="2697480"/>
            <a:ext cx="48916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ts val="1599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Supõe que cada ambulância está ocupada uma fração q do tempo, de forma independente das outras.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99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Com isso, a sobrevida de cada setor sai de uma conta direta, em frações de segundo por mapa.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99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É o que permite ao otimizador testar milhões de mapas.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99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Ponto fraco: na vida real as ocupações não são independentes. Num pico de chamados, ambulâncias vizinhas ficam ocupadas ao mesmo tempo.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7"/>
          <p:cNvSpPr/>
          <p:nvPr/>
        </p:nvSpPr>
        <p:spPr>
          <a:xfrm>
            <a:off x="6236280" y="2148840"/>
            <a:ext cx="5394600" cy="3245760"/>
          </a:xfrm>
          <a:prstGeom prst="roundRect">
            <a:avLst>
              <a:gd name="adj" fmla="val 2817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8"/>
          <p:cNvSpPr/>
          <p:nvPr/>
        </p:nvSpPr>
        <p:spPr>
          <a:xfrm>
            <a:off x="6510600" y="2286000"/>
            <a:ext cx="48459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A simulação: uma cidade sorteada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9"/>
          <p:cNvSpPr/>
          <p:nvPr/>
        </p:nvSpPr>
        <p:spPr>
          <a:xfrm>
            <a:off x="6510600" y="2697480"/>
            <a:ext cx="489168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ts val="1599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Reproduz um ano de São Paulo chamado a chamado: ~306 mil chamados sorteados nas taxas do SIA, em setores sorteados pela população.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99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regulador aplica a regra real; cada ambulância fica de fato ocupada durante a saída; se todas estão ocupadas, o chamado espera.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99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cada chamado, mede em quanto tempo um desfibrilador chegaria a uma parada cardíaca naquele setor, com a frota no estado em que estava naquele instante.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99"/>
              </a:lnSpc>
              <a:spcAft>
                <a:spcPts val="499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Leva minutos por mapa: serve para conferir os finalistas, com 3 sorteios diferentes cada.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0"/>
          <p:cNvSpPr/>
          <p:nvPr/>
        </p:nvSpPr>
        <p:spPr>
          <a:xfrm>
            <a:off x="567000" y="562356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Se o modelo e a simulação concordarem na ordem dos mapas, a simplificação do modelo não está levando à escolha do mapa errado.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1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SIA/SUS · notas técnicas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v5_simulacao.json; código em fase3_vidas/experimentos/simula_vidas.py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CONFERÊNCIA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H3 · O que a simulação mostrou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21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3" name="Chart 0"/>
          <p:cNvGraphicFramePr/>
          <p:nvPr/>
        </p:nvGraphicFramePr>
        <p:xfrm>
          <a:off x="567000" y="1325880"/>
          <a:ext cx="6949080" cy="434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94" name="Shape 3"/>
          <p:cNvSpPr/>
          <p:nvPr/>
        </p:nvSpPr>
        <p:spPr>
          <a:xfrm>
            <a:off x="7772400" y="1371600"/>
            <a:ext cx="3858480" cy="21027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4"/>
          <p:cNvSpPr/>
          <p:nvPr/>
        </p:nvSpPr>
        <p:spPr>
          <a:xfrm>
            <a:off x="8001000" y="14814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 fórmula é um pouco otimista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5"/>
          <p:cNvSpPr/>
          <p:nvPr/>
        </p:nvSpPr>
        <p:spPr>
          <a:xfrm>
            <a:off x="8001000" y="1828800"/>
            <a:ext cx="3474360" cy="15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Em todos os mapas, a simulação dá um pouco menos de vidas que o modelo: até 2,8 por 1.000. É o efeito esperado: nos picos, vizinhas ficam ocupadas juntas e o desfibrilador demora mais.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Shape 6"/>
          <p:cNvSpPr/>
          <p:nvPr/>
        </p:nvSpPr>
        <p:spPr>
          <a:xfrm>
            <a:off x="7772400" y="3611880"/>
            <a:ext cx="3858480" cy="2057040"/>
          </a:xfrm>
          <a:prstGeom prst="roundRect">
            <a:avLst>
              <a:gd name="adj" fmla="val 4444"/>
            </a:avLst>
          </a:prstGeom>
          <a:solidFill>
            <a:srgbClr val="E6F0EA"/>
          </a:solidFill>
          <a:ln w="12700">
            <a:solidFill>
              <a:srgbClr val="E6F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7"/>
          <p:cNvSpPr/>
          <p:nvPr/>
        </p:nvSpPr>
        <p:spPr>
          <a:xfrm>
            <a:off x="8001000" y="372168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E7D5A"/>
                </a:solidFill>
                <a:effectLst/>
                <a:uFillTx/>
                <a:latin typeface="Calibri"/>
                <a:ea typeface="Calibri"/>
              </a:rPr>
              <a:t>Mas a ordem dos mapas não muda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8"/>
          <p:cNvSpPr/>
          <p:nvPr/>
        </p:nvSpPr>
        <p:spPr>
          <a:xfrm>
            <a:off x="8001000" y="4069080"/>
            <a:ext cx="347436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erro é parecido para todos os mapas. Só trocam de posição mapas que o modelo separa por no máximo 0,1 por 1.000 — dentro do ruído. Fila quase nunca acontece (0,00% dos chamados).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9"/>
          <p:cNvSpPr/>
          <p:nvPr/>
        </p:nvSpPr>
        <p:spPr>
          <a:xfrm>
            <a:off x="567000" y="58978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A simplificação do modelo erra um pouco o nível, mas não muda quem é melhor: ela é segura para escolher entre mapas.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10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v5_simulacao.json (tempo por saída de 70 min, média de 3 sorteios)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CONFERÊNCIA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H3 · 18 cenários para o que não conseguimos medir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22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3"/>
          <p:cNvSpPr/>
          <p:nvPr/>
        </p:nvSpPr>
        <p:spPr>
          <a:xfrm>
            <a:off x="567000" y="1325880"/>
            <a:ext cx="110638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Três entradas do modelo não vêm de medição direta. Em vez de apostar num único valor para cada uma, avaliamos os 13 mapas finalistas em todas as combinações: 3 × 3 × 2 = 18 cenários.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06" name="Table 0"/>
          <p:cNvGraphicFramePr/>
          <p:nvPr/>
        </p:nvGraphicFramePr>
        <p:xfrm>
          <a:off x="567000" y="1965960"/>
          <a:ext cx="11063880" cy="185616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5943600"/>
              </a:tblGrid>
              <a:tr h="34740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que varia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valores testados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por que não sabemos o valor certo</a:t>
                      </a:r>
                      <a:endParaRPr lang="pt-BR" sz="12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3D5C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tempo que cada saída prende a ambulância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45 · 70 · 100 min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 SIA registra quantas saídas houve, mas não quanto tempo cada uma durou. Esse tempo define a ocupação q.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trânsito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livre · calibrado · 25% mais lento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 calibração se apoia num único número da Prefeitura (20 min nos casos mais graves).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volume de saídas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SIA (~838/dia) · Prefeitura (~350/dia)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50" b="0" u="none" strike="noStrike">
                          <a:solidFill>
                            <a:srgbClr val="4A5568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As duas fontes oficiais discordam por mais da metade; menos saídas significa ambulâncias menos ocupadas.</a:t>
                      </a:r>
                      <a:endParaRPr lang="pt-BR" sz="12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91440" marR="9144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AF1F7"/>
                    </a:solidFill>
                  </a:tcPr>
                </a:tc>
              </a:tr>
            </a:tbl>
          </a:graphicData>
        </a:graphic>
      </p:graphicFrame>
      <p:sp>
        <p:nvSpPr>
          <p:cNvPr id="407" name="Shape 4"/>
          <p:cNvSpPr/>
          <p:nvPr/>
        </p:nvSpPr>
        <p:spPr>
          <a:xfrm>
            <a:off x="567000" y="4023360"/>
            <a:ext cx="11063880" cy="1462680"/>
          </a:xfrm>
          <a:prstGeom prst="roundRect">
            <a:avLst>
              <a:gd name="adj" fmla="val 6250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841320" y="4114800"/>
            <a:ext cx="10515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 que ganhamos com isso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6"/>
          <p:cNvSpPr/>
          <p:nvPr/>
        </p:nvSpPr>
        <p:spPr>
          <a:xfrm>
            <a:off x="841320" y="4453200"/>
            <a:ext cx="10515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Se o mapa recomendado só fosse bom num cenário, a recomendação dependeria de qual chute está certo. Para cada mapa e cenário medimos o arrependimento: quanto ele perde para o melhor mapa daquele cenário. Exemplo, no cenário central: o melhor mapa salva 63,89 por 1.000; o recomendado, 63,80; o arrependimento dele ali é 0,09.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7"/>
          <p:cNvSpPr/>
          <p:nvPr/>
        </p:nvSpPr>
        <p:spPr>
          <a:xfrm>
            <a:off x="567000" y="562356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Escolhemos o mapa de menor arrependimento máximo: o que, no pior dos 18 cenários, fica mais perto do melhor possível. É a escolha segura quando não sabemos qual cenário é o verdadeiro.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 8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Prefeitura de SP, dez/2023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SIA/SUS · notas técnicas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 |  dados do projeto: v6_robustez.json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CONFERÊNCIA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H3 · Em todos os 18 cenários, o recomendado perde quase nada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23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15" name="Chart 0"/>
          <p:cNvGraphicFramePr/>
          <p:nvPr/>
        </p:nvGraphicFramePr>
        <p:xfrm>
          <a:off x="567000" y="1325880"/>
          <a:ext cx="6949080" cy="4068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416" name="Text 3"/>
          <p:cNvSpPr/>
          <p:nvPr/>
        </p:nvSpPr>
        <p:spPr>
          <a:xfrm>
            <a:off x="567000" y="5394960"/>
            <a:ext cx="69490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maior perda contra o melhor mapa de cada cenário (sobreviventes por 1.000 paradas)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4"/>
          <p:cNvSpPr/>
          <p:nvPr/>
        </p:nvSpPr>
        <p:spPr>
          <a:xfrm>
            <a:off x="7772400" y="1371600"/>
            <a:ext cx="3858480" cy="2285640"/>
          </a:xfrm>
          <a:prstGeom prst="roundRect">
            <a:avLst>
              <a:gd name="adj" fmla="val 4000"/>
            </a:avLst>
          </a:prstGeom>
          <a:solidFill>
            <a:srgbClr val="E6F0EA"/>
          </a:solidFill>
          <a:ln w="12700">
            <a:solidFill>
              <a:srgbClr val="E6F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5"/>
          <p:cNvSpPr/>
          <p:nvPr/>
        </p:nvSpPr>
        <p:spPr>
          <a:xfrm>
            <a:off x="8001000" y="148140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2E7D5A"/>
                </a:solidFill>
                <a:effectLst/>
                <a:uFillTx/>
                <a:latin typeface="Calibri"/>
                <a:ea typeface="Calibri"/>
              </a:rPr>
              <a:t>O recomendado é o mais seguro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6"/>
          <p:cNvSpPr/>
          <p:nvPr/>
        </p:nvSpPr>
        <p:spPr>
          <a:xfrm>
            <a:off x="8001000" y="1828800"/>
            <a:ext cx="3474360" cy="178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Ele não vence nenhum cenário isolado — quem vence é vidas, λ=0, sem limite (16); p-median (2) —, mas nunca fica mais de 0,36 por 1.000 atrás do melhor. O p-median chega a perder 1,7; a rede de hoje, 25,8.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7"/>
          <p:cNvSpPr/>
          <p:nvPr/>
        </p:nvSpPr>
        <p:spPr>
          <a:xfrm>
            <a:off x="7772400" y="3794760"/>
            <a:ext cx="3858480" cy="1782720"/>
          </a:xfrm>
          <a:prstGeom prst="roundRect">
            <a:avLst>
              <a:gd name="adj" fmla="val 5128"/>
            </a:avLst>
          </a:prstGeom>
          <a:solidFill>
            <a:srgbClr val="FBEAE7"/>
          </a:solidFill>
          <a:ln w="12700">
            <a:solidFill>
              <a:srgbClr val="FBEAE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8"/>
          <p:cNvSpPr/>
          <p:nvPr/>
        </p:nvSpPr>
        <p:spPr>
          <a:xfrm>
            <a:off x="8001000" y="3904560"/>
            <a:ext cx="3474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1" u="none" strike="noStrike">
                <a:solidFill>
                  <a:srgbClr val="EB6834"/>
                </a:solidFill>
                <a:effectLst/>
                <a:uFillTx/>
                <a:latin typeface="Calibri"/>
                <a:ea typeface="Calibri"/>
              </a:rPr>
              <a:t>Mas a troca de equidade continua</a:t>
            </a:r>
            <a:endParaRPr lang="pt-BR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Text 9"/>
          <p:cNvSpPr/>
          <p:nvPr/>
        </p:nvSpPr>
        <p:spPr>
          <a:xfrm>
            <a:off x="8001000" y="4251960"/>
            <a:ext cx="34743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No pior cenário, os 10% mais mal servidos do recomendado ficam com 8,8 sobreviventes por 1.000; no p-median, 13,4.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3" name="Text 10"/>
          <p:cNvSpPr/>
          <p:nvPr/>
        </p:nvSpPr>
        <p:spPr>
          <a:xfrm>
            <a:off x="567000" y="57150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Os níveis mudam muito entre cenários (de 43,5 a 111,1 sobreviventes por 1.000 para o recomendado, sobretudo pelo trânsito), mas a ordem dos mapas quase não muda. H3 confirmada.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11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v6_robustez.json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CONFERÊNCIA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Contraprova: sem a parada cardíaca, a cobertura escolhe pior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3"/>
          <p:cNvSpPr/>
          <p:nvPr/>
        </p:nvSpPr>
        <p:spPr>
          <a:xfrm>
            <a:off x="567000" y="1371600"/>
            <a:ext cx="11063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E se a parada cardíaca fosse uma escolha ruim de régua? Resolvemos o mesmo problema maximizando outra coisa: a fração de chamados alcançados em até 15 min (graves e básicos, nos pesos do SIA). A sobrevida desse mapa foi medida só depois.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4"/>
          <p:cNvSpPr/>
          <p:nvPr/>
        </p:nvSpPr>
        <p:spPr>
          <a:xfrm>
            <a:off x="567000" y="224028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5"/>
          <p:cNvSpPr/>
          <p:nvPr/>
        </p:nvSpPr>
        <p:spPr>
          <a:xfrm>
            <a:off x="795600" y="23500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56,3%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6"/>
          <p:cNvSpPr/>
          <p:nvPr/>
        </p:nvSpPr>
        <p:spPr>
          <a:xfrm>
            <a:off x="795600" y="297180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dos chamados graves com USA a até 15 min: a maior cobertura de todos os mapas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2" name="Shape 7"/>
          <p:cNvSpPr/>
          <p:nvPr/>
        </p:nvSpPr>
        <p:spPr>
          <a:xfrm>
            <a:off x="4334400" y="224028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8"/>
          <p:cNvSpPr/>
          <p:nvPr/>
        </p:nvSpPr>
        <p:spPr>
          <a:xfrm>
            <a:off x="4563000" y="23500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D9A441"/>
                </a:solidFill>
                <a:effectLst/>
                <a:uFillTx/>
                <a:latin typeface="Cambria"/>
                <a:ea typeface="Cambria"/>
              </a:rPr>
              <a:t>54,6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Text 9"/>
          <p:cNvSpPr/>
          <p:nvPr/>
        </p:nvSpPr>
        <p:spPr>
          <a:xfrm>
            <a:off x="4563000" y="297180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sobreviventes por 1.000 paradas cardíacas nesse mesmo mapa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10"/>
          <p:cNvSpPr/>
          <p:nvPr/>
        </p:nvSpPr>
        <p:spPr>
          <a:xfrm>
            <a:off x="8101440" y="2240280"/>
            <a:ext cx="3520080" cy="14626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11"/>
          <p:cNvSpPr/>
          <p:nvPr/>
        </p:nvSpPr>
        <p:spPr>
          <a:xfrm>
            <a:off x="8330040" y="2350080"/>
            <a:ext cx="306288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EB6834"/>
                </a:solidFill>
                <a:effectLst/>
                <a:uFillTx/>
                <a:latin typeface="Cambria"/>
                <a:ea typeface="Cambria"/>
              </a:rPr>
              <a:t>−9,2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12"/>
          <p:cNvSpPr/>
          <p:nvPr/>
        </p:nvSpPr>
        <p:spPr>
          <a:xfrm>
            <a:off x="8330040" y="2971800"/>
            <a:ext cx="30628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contra o otimizado por vidas, e −7,9 contra o p-median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13"/>
          <p:cNvSpPr/>
          <p:nvPr/>
        </p:nvSpPr>
        <p:spPr>
          <a:xfrm>
            <a:off x="567000" y="3886200"/>
            <a:ext cx="11063880" cy="15084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14"/>
          <p:cNvSpPr/>
          <p:nvPr/>
        </p:nvSpPr>
        <p:spPr>
          <a:xfrm>
            <a:off x="841320" y="3977640"/>
            <a:ext cx="10515240" cy="13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 motivo é o limiar. "Em até 15 min" trata do mesmo jeito chegar em 5 e chegar em 14 minutos, mas a sobrevida cai cerca de 22% a cada minuto nessa faixa. Um mapa pode cobrir mais chamados dentro do limite e, mesmo assim, chegar mais tarde a quem mais precisa.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Text 15"/>
          <p:cNvSpPr/>
          <p:nvPr/>
        </p:nvSpPr>
        <p:spPr>
          <a:xfrm>
            <a:off x="567000" y="562356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Métricas de cobertura com limiar largo escolhem mapas que salvam menos. Se a parada cardíaca for abandonada como régua, o objetivo deve usar o tempo inteiro, não um limiar de 15 min.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16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Fonte: 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resultados do projeto, v7_classes.json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O QUE LEVAR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Em vidas por ano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25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3"/>
          <p:cNvSpPr/>
          <p:nvPr/>
        </p:nvSpPr>
        <p:spPr>
          <a:xfrm>
            <a:off x="567000" y="1371600"/>
            <a:ext cx="1106388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Para traduzir "sobreviventes por 1.000 paradas" em vidas por ano, precisamos saber quantas paradas cardíacas acontecem em São Paulo. Esse número não existe em dado público: o SIA não registra diagnóstico. Usamos a incidência de um grande registro europeu (EuReCa TWO) e, como ela pode não valer para São Paulo, testamos também metade e uma vez e meia esse valor.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567000" y="2468880"/>
            <a:ext cx="3520080" cy="1965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5"/>
          <p:cNvSpPr/>
          <p:nvPr/>
        </p:nvSpPr>
        <p:spPr>
          <a:xfrm>
            <a:off x="795600" y="2560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incidência baixa (metade)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6"/>
          <p:cNvSpPr/>
          <p:nvPr/>
        </p:nvSpPr>
        <p:spPr>
          <a:xfrm>
            <a:off x="795600" y="288036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+64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7"/>
          <p:cNvSpPr/>
          <p:nvPr/>
        </p:nvSpPr>
        <p:spPr>
          <a:xfrm>
            <a:off x="795600" y="361188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vidas por ano. ~28 paradas por 100 mil habitantes → ~3.223 paradas por ano na capital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Shape 8"/>
          <p:cNvSpPr/>
          <p:nvPr/>
        </p:nvSpPr>
        <p:spPr>
          <a:xfrm>
            <a:off x="4334400" y="2468880"/>
            <a:ext cx="3520080" cy="1965600"/>
          </a:xfrm>
          <a:prstGeom prst="roundRect">
            <a:avLst>
              <a:gd name="adj" fmla="val 4651"/>
            </a:avLst>
          </a:prstGeom>
          <a:solidFill>
            <a:srgbClr val="E6F0EA"/>
          </a:solidFill>
          <a:ln w="12700">
            <a:solidFill>
              <a:srgbClr val="E6F0E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9"/>
          <p:cNvSpPr/>
          <p:nvPr/>
        </p:nvSpPr>
        <p:spPr>
          <a:xfrm>
            <a:off x="4563000" y="2560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incidência central (EuReCa)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10"/>
          <p:cNvSpPr/>
          <p:nvPr/>
        </p:nvSpPr>
        <p:spPr>
          <a:xfrm>
            <a:off x="4563000" y="288036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2E7D5A"/>
                </a:solidFill>
                <a:effectLst/>
                <a:uFillTx/>
                <a:latin typeface="Cambria"/>
                <a:ea typeface="Cambria"/>
              </a:rPr>
              <a:t>+127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11"/>
          <p:cNvSpPr/>
          <p:nvPr/>
        </p:nvSpPr>
        <p:spPr>
          <a:xfrm>
            <a:off x="4563000" y="361188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vidas por ano. ~56 paradas por 100 mil habitantes → ~6.446 paradas por ano na capital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Shape 12"/>
          <p:cNvSpPr/>
          <p:nvPr/>
        </p:nvSpPr>
        <p:spPr>
          <a:xfrm>
            <a:off x="8101440" y="2468880"/>
            <a:ext cx="3520080" cy="1965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3"/>
          <p:cNvSpPr/>
          <p:nvPr/>
        </p:nvSpPr>
        <p:spPr>
          <a:xfrm>
            <a:off x="8330040" y="256032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incidência alta (1,5×)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14"/>
          <p:cNvSpPr/>
          <p:nvPr/>
        </p:nvSpPr>
        <p:spPr>
          <a:xfrm>
            <a:off x="8330040" y="2880360"/>
            <a:ext cx="310860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+191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15"/>
          <p:cNvSpPr/>
          <p:nvPr/>
        </p:nvSpPr>
        <p:spPr>
          <a:xfrm>
            <a:off x="8330040" y="3611880"/>
            <a:ext cx="310860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vidas por ano. ~84 paradas por 100 mil habitantes → ~9.669 paradas por ano na capital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16"/>
          <p:cNvSpPr/>
          <p:nvPr/>
        </p:nvSpPr>
        <p:spPr>
          <a:xfrm>
            <a:off x="567000" y="4572000"/>
            <a:ext cx="11063880" cy="959760"/>
          </a:xfrm>
          <a:prstGeom prst="roundRect">
            <a:avLst>
              <a:gd name="adj" fmla="val 9524"/>
            </a:avLst>
          </a:prstGeom>
          <a:solidFill>
            <a:srgbClr val="FFF4DC"/>
          </a:solidFill>
          <a:ln w="12700">
            <a:solidFill>
              <a:srgbClr val="FFF4D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17"/>
          <p:cNvSpPr/>
          <p:nvPr/>
        </p:nvSpPr>
        <p:spPr>
          <a:xfrm>
            <a:off x="841320" y="4617720"/>
            <a:ext cx="1051524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701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A "faixa 64–191" é isso: o resultado das três hipóteses de incidência, não um intervalo de confiança estatístico. O ganho por 1.000 paradas (+19,7, mapa recomendado contra a rede de hoje) é o mesmo nas três; só muda quantas paradas há por ano. Contra o p-median, o ganho seria de ~8 vidas por ano.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18"/>
          <p:cNvSpPr/>
          <p:nvPr/>
        </p:nvSpPr>
        <p:spPr>
          <a:xfrm>
            <a:off x="567000" y="571500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É ordem de grandeza, não previsão: a curva de sobrevida é de Ontário e a incidência é europeia. O ganho grande vem de sair da rede de hoje.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19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Gräsner et al. (2020), EuReCa TWO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IBGE · Censo 2022, setores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3"/>
              </a:rPr>
              <a:t>De Maio et al. (2003)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3D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Shape 0"/>
          <p:cNvSpPr/>
          <p:nvPr/>
        </p:nvSpPr>
        <p:spPr>
          <a:xfrm>
            <a:off x="9326880" y="-2011680"/>
            <a:ext cx="5120280" cy="512028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F3D5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1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9FB0C4"/>
                </a:solidFill>
                <a:effectLst/>
                <a:uFillTx/>
                <a:latin typeface="Calibri"/>
                <a:ea typeface="Calibri"/>
              </a:rPr>
              <a:t>26</a:t>
            </a:r>
            <a:endParaRPr lang="pt-BR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2"/>
          <p:cNvSpPr/>
          <p:nvPr/>
        </p:nvSpPr>
        <p:spPr>
          <a:xfrm>
            <a:off x="567000" y="548640"/>
            <a:ext cx="10058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10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VEREDITO DA HIPÓTESE</a:t>
            </a:r>
            <a:endParaRPr lang="pt-BR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3"/>
          <p:cNvSpPr/>
          <p:nvPr/>
        </p:nvSpPr>
        <p:spPr>
          <a:xfrm>
            <a:off x="567000" y="914400"/>
            <a:ext cx="100580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O que a fase 3 mostrou</a:t>
            </a:r>
            <a:endParaRPr lang="pt-BR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4"/>
          <p:cNvSpPr/>
          <p:nvPr/>
        </p:nvSpPr>
        <p:spPr>
          <a:xfrm>
            <a:off x="567000" y="1828800"/>
            <a:ext cx="566640" cy="566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5"/>
          <p:cNvSpPr/>
          <p:nvPr/>
        </p:nvSpPr>
        <p:spPr>
          <a:xfrm>
            <a:off x="567000" y="18288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H1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6"/>
          <p:cNvSpPr/>
          <p:nvPr/>
        </p:nvSpPr>
        <p:spPr>
          <a:xfrm>
            <a:off x="1344240" y="182880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Parcial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7"/>
          <p:cNvSpPr/>
          <p:nvPr/>
        </p:nvSpPr>
        <p:spPr>
          <a:xfrm>
            <a:off x="3218760" y="1627560"/>
            <a:ext cx="822924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7ECF2"/>
                </a:solidFill>
                <a:effectLst/>
                <a:uFillTx/>
                <a:latin typeface="Calibri"/>
                <a:ea typeface="Calibri"/>
              </a:rPr>
              <a:t>O mapa otimizado por vidas é muito melhor que a rede de hoje (44,1 → 63,8 sobreviventes por 1.000) e que os mapas do Gini. Contra o p-median, ganha só 1,3 por 1.000 e com menos equidade.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Shape 8"/>
          <p:cNvSpPr/>
          <p:nvPr/>
        </p:nvSpPr>
        <p:spPr>
          <a:xfrm>
            <a:off x="567000" y="3017520"/>
            <a:ext cx="566640" cy="56664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9"/>
          <p:cNvSpPr/>
          <p:nvPr/>
        </p:nvSpPr>
        <p:spPr>
          <a:xfrm>
            <a:off x="567000" y="30175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H2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0"/>
          <p:cNvSpPr/>
          <p:nvPr/>
        </p:nvSpPr>
        <p:spPr>
          <a:xfrm>
            <a:off x="1344240" y="301752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8FD3AE"/>
                </a:solidFill>
                <a:effectLst/>
                <a:uFillTx/>
                <a:latin typeface="Calibri"/>
                <a:ea typeface="Calibri"/>
              </a:rPr>
              <a:t>Confirmada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1"/>
          <p:cNvSpPr/>
          <p:nvPr/>
        </p:nvSpPr>
        <p:spPr>
          <a:xfrm>
            <a:off x="3218760" y="2816280"/>
            <a:ext cx="822924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7ECF2"/>
                </a:solidFill>
                <a:effectLst/>
                <a:uFillTx/>
                <a:latin typeface="Calibri"/>
                <a:ea typeface="Calibri"/>
              </a:rPr>
              <a:t>Não é preciso redesenhar tudo: mudar 20 ambulâncias de base entrega 37% do ganho, e 40 ambulâncias, 61%.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12"/>
          <p:cNvSpPr/>
          <p:nvPr/>
        </p:nvSpPr>
        <p:spPr>
          <a:xfrm>
            <a:off x="567000" y="4206240"/>
            <a:ext cx="566640" cy="566640"/>
          </a:xfrm>
          <a:prstGeom prst="ellipse">
            <a:avLst/>
          </a:prstGeom>
          <a:solidFill>
            <a:srgbClr val="2E7D5A"/>
          </a:solidFill>
          <a:ln w="12700">
            <a:solidFill>
              <a:srgbClr val="2E7D5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13"/>
          <p:cNvSpPr/>
          <p:nvPr/>
        </p:nvSpPr>
        <p:spPr>
          <a:xfrm>
            <a:off x="567000" y="42062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H3</a:t>
            </a:r>
            <a:endParaRPr lang="pt-B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14"/>
          <p:cNvSpPr/>
          <p:nvPr/>
        </p:nvSpPr>
        <p:spPr>
          <a:xfrm>
            <a:off x="1344240" y="4206240"/>
            <a:ext cx="18284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8FD3AE"/>
                </a:solidFill>
                <a:effectLst/>
                <a:uFillTx/>
                <a:latin typeface="Calibri"/>
                <a:ea typeface="Calibri"/>
              </a:rPr>
              <a:t>Confirmada</a:t>
            </a:r>
            <a:endParaRPr lang="pt-BR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Text 15"/>
          <p:cNvSpPr/>
          <p:nvPr/>
        </p:nvSpPr>
        <p:spPr>
          <a:xfrm>
            <a:off x="3218760" y="4005000"/>
            <a:ext cx="8229240" cy="96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E7ECF2"/>
                </a:solidFill>
                <a:effectLst/>
                <a:uFillTx/>
                <a:latin typeface="Calibri"/>
                <a:ea typeface="Calibri"/>
              </a:rPr>
              <a:t>A simulação mostra que o modelo é otimista em até 2,8 por 1.000, sem mudar a ordem dos mapas; nos 18 cenários, o recomendado nunca fica mais de 0,36 atrás do melhor.</a:t>
            </a:r>
            <a:endParaRPr lang="pt-BR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6"/>
          <p:cNvSpPr/>
          <p:nvPr/>
        </p:nvSpPr>
        <p:spPr>
          <a:xfrm>
            <a:off x="567000" y="544068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899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C9D6E4"/>
                </a:solidFill>
                <a:effectLst/>
                <a:uFillTx/>
                <a:latin typeface="Cambria"/>
                <a:ea typeface="Cambria"/>
              </a:rPr>
              <a:t>Também aprendemos duas coisas: a parada cardíaca sozinha não basta como objetivo (é preciso o piso do chamado grave), e cobertura em até 15 min não é a mesma coisa que sobrevida.</a:t>
            </a:r>
            <a:endParaRPr lang="pt-BR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O QUE LEVAR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Limitações: o que ainda é hipótese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1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27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2" name="Shape 3"/>
          <p:cNvSpPr/>
          <p:nvPr/>
        </p:nvSpPr>
        <p:spPr>
          <a:xfrm>
            <a:off x="567000" y="141732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4"/>
          <p:cNvSpPr/>
          <p:nvPr/>
        </p:nvSpPr>
        <p:spPr>
          <a:xfrm>
            <a:off x="567000" y="1417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5"/>
          <p:cNvSpPr/>
          <p:nvPr/>
        </p:nvSpPr>
        <p:spPr>
          <a:xfrm>
            <a:off x="1134000" y="139896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Uma curva de sobrevida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6"/>
          <p:cNvSpPr/>
          <p:nvPr/>
        </p:nvSpPr>
        <p:spPr>
          <a:xfrm>
            <a:off x="1134000" y="1691640"/>
            <a:ext cx="4827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Vem de Ontário, nos anos 1990, e só de paradas de causa cardíaca. O nível absoluto em São Paulo pode ser outro; comparar mapas entre si é mais confiável que o número de vidas.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7"/>
          <p:cNvSpPr/>
          <p:nvPr/>
        </p:nvSpPr>
        <p:spPr>
          <a:xfrm>
            <a:off x="6236280" y="141732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8"/>
          <p:cNvSpPr/>
          <p:nvPr/>
        </p:nvSpPr>
        <p:spPr>
          <a:xfrm>
            <a:off x="6236280" y="14173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9"/>
          <p:cNvSpPr/>
          <p:nvPr/>
        </p:nvSpPr>
        <p:spPr>
          <a:xfrm>
            <a:off x="6803280" y="139896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Parada onde as pessoas moram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10"/>
          <p:cNvSpPr/>
          <p:nvPr/>
        </p:nvSpPr>
        <p:spPr>
          <a:xfrm>
            <a:off x="6803280" y="1691640"/>
            <a:ext cx="4827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Não temos a idade por setor nem a população de dia: bairros comerciais e bairros com muitos idosos ficam sub-representados.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11"/>
          <p:cNvSpPr/>
          <p:nvPr/>
        </p:nvSpPr>
        <p:spPr>
          <a:xfrm>
            <a:off x="567000" y="278892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12"/>
          <p:cNvSpPr/>
          <p:nvPr/>
        </p:nvSpPr>
        <p:spPr>
          <a:xfrm>
            <a:off x="567000" y="27889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13"/>
          <p:cNvSpPr/>
          <p:nvPr/>
        </p:nvSpPr>
        <p:spPr>
          <a:xfrm>
            <a:off x="1134000" y="277056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Calibração em um ponto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14"/>
          <p:cNvSpPr/>
          <p:nvPr/>
        </p:nvSpPr>
        <p:spPr>
          <a:xfrm>
            <a:off x="1134000" y="3063240"/>
            <a:ext cx="4827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O fator de trânsito vem de uma única notícia (20 min nos casos mais graves); a robustez testa outros valores, mas não substitui uma medida.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Shape 15"/>
          <p:cNvSpPr/>
          <p:nvPr/>
        </p:nvSpPr>
        <p:spPr>
          <a:xfrm>
            <a:off x="6236280" y="278892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6"/>
          <p:cNvSpPr/>
          <p:nvPr/>
        </p:nvSpPr>
        <p:spPr>
          <a:xfrm>
            <a:off x="6236280" y="27889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7"/>
          <p:cNvSpPr/>
          <p:nvPr/>
        </p:nvSpPr>
        <p:spPr>
          <a:xfrm>
            <a:off x="6803280" y="277056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Tempo por saída e volume de saídas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8"/>
          <p:cNvSpPr/>
          <p:nvPr/>
        </p:nvSpPr>
        <p:spPr>
          <a:xfrm>
            <a:off x="6803280" y="3063240"/>
            <a:ext cx="4827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Nenhum dos dois é medido: entram como cenários (45/70/100 min; SIA × Prefeitura), não como fatos.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8" name="Shape 19"/>
          <p:cNvSpPr/>
          <p:nvPr/>
        </p:nvSpPr>
        <p:spPr>
          <a:xfrm>
            <a:off x="567000" y="416052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Text 20"/>
          <p:cNvSpPr/>
          <p:nvPr/>
        </p:nvSpPr>
        <p:spPr>
          <a:xfrm>
            <a:off x="567000" y="41605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21"/>
          <p:cNvSpPr/>
          <p:nvPr/>
        </p:nvSpPr>
        <p:spPr>
          <a:xfrm>
            <a:off x="1134000" y="414216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Otimalidade não provada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22"/>
          <p:cNvSpPr/>
          <p:nvPr/>
        </p:nvSpPr>
        <p:spPr>
          <a:xfrm>
            <a:off x="1134000" y="4434840"/>
            <a:ext cx="4827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A busca acha o ótimo nos casos pequenos, onde dá para conferir, mas o teto do programa inteiro é largo demais para certificar o caso real.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Shape 23"/>
          <p:cNvSpPr/>
          <p:nvPr/>
        </p:nvSpPr>
        <p:spPr>
          <a:xfrm>
            <a:off x="6236280" y="4160520"/>
            <a:ext cx="420120" cy="42012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24"/>
          <p:cNvSpPr/>
          <p:nvPr/>
        </p:nvSpPr>
        <p:spPr>
          <a:xfrm>
            <a:off x="6236280" y="4160520"/>
            <a:ext cx="420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Text 25"/>
          <p:cNvSpPr/>
          <p:nvPr/>
        </p:nvSpPr>
        <p:spPr>
          <a:xfrm>
            <a:off x="6803280" y="4142160"/>
            <a:ext cx="4827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F2B46"/>
                </a:solidFill>
                <a:effectLst/>
                <a:uFillTx/>
                <a:latin typeface="Calibri"/>
                <a:ea typeface="Calibri"/>
              </a:rPr>
              <a:t>Viabilidade das bases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Text 26"/>
          <p:cNvSpPr/>
          <p:nvPr/>
        </p:nvSpPr>
        <p:spPr>
          <a:xfrm>
            <a:off x="6803280" y="4434840"/>
            <a:ext cx="482760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1599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Cada local aceita até 10 unidades no modelo; garagem, equipe e custo de instalar uma base não foram verificados.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27"/>
          <p:cNvSpPr/>
          <p:nvPr/>
        </p:nvSpPr>
        <p:spPr>
          <a:xfrm>
            <a:off x="567000" y="5669280"/>
            <a:ext cx="110638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ts val="2001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0F3D5C"/>
                </a:solidFill>
                <a:effectLst/>
                <a:uFillTx/>
                <a:latin typeface="Cambria"/>
                <a:ea typeface="Cambria"/>
              </a:rPr>
              <a:t>E não há validação externa: nenhum dado público traz tempos de resposta observados por bairro para comparar com o modelo.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28"/>
          <p:cNvSpPr/>
          <p:nvPr/>
        </p:nvSpPr>
        <p:spPr>
          <a:xfrm>
            <a:off x="567000" y="6455520"/>
            <a:ext cx="10926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Fontes: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1"/>
              </a:rPr>
              <a:t>De Maio et al. (2003)</a:t>
            </a:r>
            <a:r>
              <a:rPr lang="en-US" sz="90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 · </a:t>
            </a:r>
            <a:r>
              <a:rPr lang="en-US" sz="900" b="0" u="sng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  <a:hlinkClick r:id="rId2"/>
              </a:rPr>
              <a:t>Prefeitura de SP, dez/2023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Text 0"/>
          <p:cNvSpPr/>
          <p:nvPr/>
        </p:nvSpPr>
        <p:spPr>
          <a:xfrm>
            <a:off x="567000" y="384120"/>
            <a:ext cx="100580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1" u="none" spc="139" strike="noStrike">
                <a:solidFill>
                  <a:srgbClr val="D9A441"/>
                </a:solidFill>
                <a:effectLst/>
                <a:uFillTx/>
                <a:latin typeface="Calibri"/>
                <a:ea typeface="Calibri"/>
              </a:rPr>
              <a:t>FONTES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Text 1"/>
          <p:cNvSpPr/>
          <p:nvPr/>
        </p:nvSpPr>
        <p:spPr>
          <a:xfrm>
            <a:off x="567000" y="640080"/>
            <a:ext cx="110638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0F2B46"/>
                </a:solidFill>
                <a:effectLst/>
                <a:uFillTx/>
                <a:latin typeface="Cambria"/>
                <a:ea typeface="Cambria"/>
              </a:rPr>
              <a:t>Referências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2"/>
          <p:cNvSpPr/>
          <p:nvPr/>
        </p:nvSpPr>
        <p:spPr>
          <a:xfrm>
            <a:off x="11658600" y="64922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A8F98"/>
                </a:solidFill>
                <a:effectLst/>
                <a:uFillTx/>
                <a:latin typeface="Calibri"/>
                <a:ea typeface="Calibri"/>
              </a:rPr>
              <a:t>28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3"/>
          <p:cNvSpPr/>
          <p:nvPr/>
        </p:nvSpPr>
        <p:spPr>
          <a:xfrm>
            <a:off x="567000" y="1463040"/>
            <a:ext cx="11063880" cy="47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343080" indent="-343080" defTabSz="914400">
              <a:lnSpc>
                <a:spcPts val="1500"/>
              </a:lnSpc>
              <a:spcAft>
                <a:spcPts val="700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De Maio, V. J. et al. (2003). Optimal defibrillation response intervals for maximum out-of-hospital cardiac arrest survival rates. Ann. Emerg. Med. 42(2). doi:10.1067/mem.2003.266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00"/>
              </a:lnSpc>
              <a:spcAft>
                <a:spcPts val="700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Erkut, E., Ingolfsson, A. &amp; Erdoğan, G. (2008). Ambulance location for maximum survival. Naval Research Logistics 55(1). doi:10.1002/nav.20267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00"/>
              </a:lnSpc>
              <a:spcAft>
                <a:spcPts val="700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Daskin, M. (1983). A maximum expected covering location model. Transportation Science 17(1). doi:10.1287/trsc.17.1.48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00"/>
              </a:lnSpc>
              <a:spcAft>
                <a:spcPts val="700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ReVelle, C. &amp; Hogan, K. (1989). The maximum availability location problem. Transportation Science 23(3). doi:10.1287/trsc.23.3.192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00"/>
              </a:lnSpc>
              <a:spcAft>
                <a:spcPts val="700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Rockafellar, R. T. &amp; Uryasev, S. (2000). Optimization of conditional value-at-risk. Journal of Risk 2(3). doi:10.21314/JOR.2000.038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00"/>
              </a:lnSpc>
              <a:spcAft>
                <a:spcPts val="700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Gräsner, J.-T. et al. (2020). Survival after out-of-hospital cardiac arrest in Europe — EuReCa TWO. Resuscitation 148. doi:10.1016/j.resuscitation.2019.12.042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00"/>
              </a:lnSpc>
              <a:spcAft>
                <a:spcPts val="700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Huff, D. (1964). Defining and estimating a trading area. Journal of Marketing 28(3). doi:10.1177/002224296402800307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00"/>
              </a:lnSpc>
              <a:spcAft>
                <a:spcPts val="700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Dados: IBGE, Censo 2022 (setores) · CNES/DATASUS · SIA/SUS (arquivos PASP, SIGTAP) · OpenStreetMap · Prefeitura de SP (notícia de 21/12/2023).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ts val="1500"/>
              </a:lnSpc>
              <a:spcAft>
                <a:spcPts val="700"/>
              </a:spcAft>
              <a:buClr>
                <a:srgbClr val="4A5568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4A5568"/>
                </a:solidFill>
                <a:effectLst/>
                <a:uFillTx/>
                <a:latin typeface="Calibri"/>
                <a:ea typeface="Calibri"/>
              </a:rPr>
              <a:t>Código e resultados: fase3_vidas/ e dados/fase3/*.json; relatório completo em fase3_vidas/docs/relatorio_vidas.html.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2026-10-07T04:02:38Z</dcterms:created>
  <dc:creator>Grupo MAI5003</dc:creator>
  <dc:description/>
  <dc:language>pt-BR</dc:language>
  <cp:lastModifiedBy/>
  <dcterms:modified xsi:type="dcterms:W3CDTF">2026-10-07T01:05:59Z</dcterms:modified>
  <cp:revision>2</cp:revision>
  <dc:subject>PptxGenJS Presentation</dc:subject>
  <dc:title>Onde colocar as ambulâncias para salvar mais vidas — fase 3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28</vt:i4>
  </property>
  <property fmtid="{D5CDD505-2E9C-101B-9397-08002B2CF9AE}" pid="3" name="PresentationFormat">
    <vt:lpwstr>On-screen Show (16:9)</vt:lpwstr>
  </property>
  <property fmtid="{D5CDD505-2E9C-101B-9397-08002B2CF9AE}" pid="4" name="Slides">
    <vt:i4>28</vt:i4>
  </property>
</Properties>
</file>