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Huff (β = 4,5)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B4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USA a 10 min</c:v>
                  </c:pt>
                  <c:pt idx="1">
                    <c:v>USA a 22 min</c:v>
                  </c:pt>
                  <c:pt idx="2">
                    <c:v>USA a 25 min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99.99214096728454</c:v>
                </c:pt>
                <c:pt idx="1">
                  <c:v>0.007624489657374906</c:v>
                </c:pt>
                <c:pt idx="2">
                  <c:v>0.00023454305807933044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despacho (q = 0,27)</c:v>
                </c:pt>
              </c:strCache>
            </c:strRef>
          </c:tx>
          <c:spPr>
            <a:solidFill>
              <a:srgbClr val="2E7D5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B4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USA a 10 min</c:v>
                  </c:pt>
                  <c:pt idx="1">
                    <c:v>USA a 22 min</c:v>
                  </c:pt>
                  <c:pt idx="2">
                    <c:v>USA a 25 min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74.9683</c:v>
                </c:pt>
                <c:pt idx="1">
                  <c:v>19.71</c:v>
                </c:pt>
                <c:pt idx="2">
                  <c:v>5.3217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F2B4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F2B46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0F2B46"/>
                </a:solidFill>
                <a:latin typeface="Calibri"/>
              </a:rPr>
              <a:t>quanto vale chegar em t minutos (1 = chegar já)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tempo médio (reta)</c:v>
                </c:pt>
              </c:strCache>
            </c:strRef>
          </c:tx>
          <c:spPr>
            <a:solidFill>
              <a:srgbClr val="EB6834"/>
            </a:solidFill>
            <a:ln w="3175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5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10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15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20</c:v>
                  </c:pt>
                </c:lvl>
              </c:multiLvlStrCache>
            </c:multiLvl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1</c:v>
                </c:pt>
                <c:pt idx="1">
                  <c:v>0.975</c:v>
                </c:pt>
                <c:pt idx="2">
                  <c:v>0.95</c:v>
                </c:pt>
                <c:pt idx="3">
                  <c:v>0.925</c:v>
                </c:pt>
                <c:pt idx="4">
                  <c:v>0.9</c:v>
                </c:pt>
                <c:pt idx="5">
                  <c:v>0.875</c:v>
                </c:pt>
                <c:pt idx="6">
                  <c:v>0.85</c:v>
                </c:pt>
                <c:pt idx="7">
                  <c:v>0.825</c:v>
                </c:pt>
                <c:pt idx="8">
                  <c:v>0.8</c:v>
                </c:pt>
                <c:pt idx="9">
                  <c:v>0.775</c:v>
                </c:pt>
                <c:pt idx="10">
                  <c:v>0.75</c:v>
                </c:pt>
                <c:pt idx="11">
                  <c:v>0.725</c:v>
                </c:pt>
                <c:pt idx="12">
                  <c:v>0.7</c:v>
                </c:pt>
                <c:pt idx="13">
                  <c:v>0.675</c:v>
                </c:pt>
                <c:pt idx="14">
                  <c:v>0.65</c:v>
                </c:pt>
                <c:pt idx="15">
                  <c:v>0.625</c:v>
                </c:pt>
                <c:pt idx="16">
                  <c:v>0.6</c:v>
                </c:pt>
                <c:pt idx="17">
                  <c:v>0.575</c:v>
                </c:pt>
                <c:pt idx="18">
                  <c:v>0.55</c:v>
                </c:pt>
                <c:pt idx="19">
                  <c:v>0.525</c:v>
                </c:pt>
                <c:pt idx="20">
                  <c:v>0.5</c:v>
                </c:pt>
                <c:pt idx="21">
                  <c:v>0.475</c:v>
                </c:pt>
                <c:pt idx="22">
                  <c:v>0.44999999999999996</c:v>
                </c:pt>
                <c:pt idx="23">
                  <c:v>0.42500000000000004</c:v>
                </c:pt>
                <c:pt idx="24">
                  <c:v>0.4</c:v>
                </c:pt>
                <c:pt idx="25">
                  <c:v>0.375</c:v>
                </c:pt>
                <c:pt idx="26">
                  <c:v>0.35</c:v>
                </c:pt>
                <c:pt idx="27">
                  <c:v>0.32499999999999996</c:v>
                </c:pt>
                <c:pt idx="28">
                  <c:v>0.30000000000000004</c:v>
                </c:pt>
                <c:pt idx="29">
                  <c:v>0.275</c:v>
                </c:pt>
                <c:pt idx="30">
                  <c:v>0.25</c:v>
                </c:pt>
                <c:pt idx="31">
                  <c:v>0.22499999999999998</c:v>
                </c:pt>
                <c:pt idx="32">
                  <c:v>0.19999999999999996</c:v>
                </c:pt>
                <c:pt idx="33">
                  <c:v>0.17500000000000004</c:v>
                </c:pt>
                <c:pt idx="34">
                  <c:v>0.15000000000000002</c:v>
                </c:pt>
                <c:pt idx="35">
                  <c:v>0.125</c:v>
                </c:pt>
                <c:pt idx="36">
                  <c:v>0.09999999999999998</c:v>
                </c:pt>
                <c:pt idx="37">
                  <c:v>0.07499999999999996</c:v>
                </c:pt>
                <c:pt idx="38">
                  <c:v>0.050000000000000044</c:v>
                </c:pt>
                <c:pt idx="39">
                  <c:v>0.025000000000000022</c:v>
                </c:pt>
                <c:pt idx="40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cobertura (limite de 15 min)</c:v>
                </c:pt>
              </c:strCache>
            </c:strRef>
          </c:tx>
          <c:spPr>
            <a:solidFill>
              <a:srgbClr val="7A5BA6"/>
            </a:solidFill>
            <a:ln w="31750" cap="flat">
              <a:solidFill>
                <a:srgbClr val="7A5B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A5BA6"/>
              </a:solidFill>
              <a:ln w="9525" cap="flat">
                <a:solidFill>
                  <a:srgbClr val="7A5B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0</c:v>
                  </c:pt>
                  <c:pt idx="1">
                    <c:v>0.5</c:v>
                  </c:pt>
                  <c:pt idx="2">
                    <c:v>1</c:v>
                  </c:pt>
                  <c:pt idx="3">
                    <c:v>1.5</c:v>
                  </c:pt>
                  <c:pt idx="4">
                    <c:v>2</c:v>
                  </c:pt>
                  <c:pt idx="5">
                    <c:v>2.5</c:v>
                  </c:pt>
                  <c:pt idx="6">
                    <c:v>3</c:v>
                  </c:pt>
                  <c:pt idx="7">
                    <c:v>3.5</c:v>
                  </c:pt>
                  <c:pt idx="8">
                    <c:v>4</c:v>
                  </c:pt>
                  <c:pt idx="9">
                    <c:v>4.5</c:v>
                  </c:pt>
                  <c:pt idx="10">
                    <c:v>5</c:v>
                  </c:pt>
                  <c:pt idx="11">
                    <c:v>5.5</c:v>
                  </c:pt>
                  <c:pt idx="12">
                    <c:v>6</c:v>
                  </c:pt>
                  <c:pt idx="13">
                    <c:v>6.5</c:v>
                  </c:pt>
                  <c:pt idx="14">
                    <c:v>7</c:v>
                  </c:pt>
                  <c:pt idx="15">
                    <c:v>7.5</c:v>
                  </c:pt>
                  <c:pt idx="16">
                    <c:v>8</c:v>
                  </c:pt>
                  <c:pt idx="17">
                    <c:v>8.5</c:v>
                  </c:pt>
                  <c:pt idx="18">
                    <c:v>9</c:v>
                  </c:pt>
                  <c:pt idx="19">
                    <c:v>9.5</c:v>
                  </c:pt>
                  <c:pt idx="20">
                    <c:v>10</c:v>
                  </c:pt>
                  <c:pt idx="21">
                    <c:v>10.5</c:v>
                  </c:pt>
                  <c:pt idx="22">
                    <c:v>11</c:v>
                  </c:pt>
                  <c:pt idx="23">
                    <c:v>11.5</c:v>
                  </c:pt>
                  <c:pt idx="24">
                    <c:v>12</c:v>
                  </c:pt>
                  <c:pt idx="25">
                    <c:v>12.5</c:v>
                  </c:pt>
                  <c:pt idx="26">
                    <c:v>13</c:v>
                  </c:pt>
                  <c:pt idx="27">
                    <c:v>13.5</c:v>
                  </c:pt>
                  <c:pt idx="28">
                    <c:v>14</c:v>
                  </c:pt>
                  <c:pt idx="29">
                    <c:v>14.5</c:v>
                  </c:pt>
                  <c:pt idx="30">
                    <c:v>15</c:v>
                  </c:pt>
                  <c:pt idx="31">
                    <c:v>15.5</c:v>
                  </c:pt>
                  <c:pt idx="32">
                    <c:v>16</c:v>
                  </c:pt>
                  <c:pt idx="33">
                    <c:v>16.5</c:v>
                  </c:pt>
                  <c:pt idx="34">
                    <c:v>17</c:v>
                  </c:pt>
                  <c:pt idx="35">
                    <c:v>17.5</c:v>
                  </c:pt>
                  <c:pt idx="36">
                    <c:v>18</c:v>
                  </c:pt>
                  <c:pt idx="37">
                    <c:v>18.5</c:v>
                  </c:pt>
                  <c:pt idx="38">
                    <c:v>19</c:v>
                  </c:pt>
                  <c:pt idx="39">
                    <c:v>19.5</c:v>
                  </c:pt>
                  <c:pt idx="40">
                    <c:v>20</c:v>
                  </c:pt>
                </c:lvl>
              </c:multiLvlStrCache>
            </c:multiLvl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sobrevida (curva medida)</c:v>
                </c:pt>
              </c:strCache>
            </c:strRef>
          </c:tx>
          <c:spPr>
            <a:solidFill>
              <a:srgbClr val="2E7D5A"/>
            </a:solidFill>
            <a:ln w="31750" cap="flat">
              <a:solidFill>
                <a:srgbClr val="2E7D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7D5A"/>
              </a:solidFill>
              <a:ln w="9525" cap="flat">
                <a:solidFill>
                  <a:srgbClr val="2E7D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0</c:v>
                  </c:pt>
                  <c:pt idx="1">
                    <c:v>0.5</c:v>
                  </c:pt>
                  <c:pt idx="2">
                    <c:v>1</c:v>
                  </c:pt>
                  <c:pt idx="3">
                    <c:v>1.5</c:v>
                  </c:pt>
                  <c:pt idx="4">
                    <c:v>2</c:v>
                  </c:pt>
                  <c:pt idx="5">
                    <c:v>2.5</c:v>
                  </c:pt>
                  <c:pt idx="6">
                    <c:v>3</c:v>
                  </c:pt>
                  <c:pt idx="7">
                    <c:v>3.5</c:v>
                  </c:pt>
                  <c:pt idx="8">
                    <c:v>4</c:v>
                  </c:pt>
                  <c:pt idx="9">
                    <c:v>4.5</c:v>
                  </c:pt>
                  <c:pt idx="10">
                    <c:v>5</c:v>
                  </c:pt>
                  <c:pt idx="11">
                    <c:v>5.5</c:v>
                  </c:pt>
                  <c:pt idx="12">
                    <c:v>6</c:v>
                  </c:pt>
                  <c:pt idx="13">
                    <c:v>6.5</c:v>
                  </c:pt>
                  <c:pt idx="14">
                    <c:v>7</c:v>
                  </c:pt>
                  <c:pt idx="15">
                    <c:v>7.5</c:v>
                  </c:pt>
                  <c:pt idx="16">
                    <c:v>8</c:v>
                  </c:pt>
                  <c:pt idx="17">
                    <c:v>8.5</c:v>
                  </c:pt>
                  <c:pt idx="18">
                    <c:v>9</c:v>
                  </c:pt>
                  <c:pt idx="19">
                    <c:v>9.5</c:v>
                  </c:pt>
                  <c:pt idx="20">
                    <c:v>10</c:v>
                  </c:pt>
                  <c:pt idx="21">
                    <c:v>10.5</c:v>
                  </c:pt>
                  <c:pt idx="22">
                    <c:v>11</c:v>
                  </c:pt>
                  <c:pt idx="23">
                    <c:v>11.5</c:v>
                  </c:pt>
                  <c:pt idx="24">
                    <c:v>12</c:v>
                  </c:pt>
                  <c:pt idx="25">
                    <c:v>12.5</c:v>
                  </c:pt>
                  <c:pt idx="26">
                    <c:v>13</c:v>
                  </c:pt>
                  <c:pt idx="27">
                    <c:v>13.5</c:v>
                  </c:pt>
                  <c:pt idx="28">
                    <c:v>14</c:v>
                  </c:pt>
                  <c:pt idx="29">
                    <c:v>14.5</c:v>
                  </c:pt>
                  <c:pt idx="30">
                    <c:v>15</c:v>
                  </c:pt>
                  <c:pt idx="31">
                    <c:v>15.5</c:v>
                  </c:pt>
                  <c:pt idx="32">
                    <c:v>16</c:v>
                  </c:pt>
                  <c:pt idx="33">
                    <c:v>16.5</c:v>
                  </c:pt>
                  <c:pt idx="34">
                    <c:v>17</c:v>
                  </c:pt>
                  <c:pt idx="35">
                    <c:v>17.5</c:v>
                  </c:pt>
                  <c:pt idx="36">
                    <c:v>18</c:v>
                  </c:pt>
                  <c:pt idx="37">
                    <c:v>18.5</c:v>
                  </c:pt>
                  <c:pt idx="38">
                    <c:v>19</c:v>
                  </c:pt>
                  <c:pt idx="39">
                    <c:v>19.5</c:v>
                  </c:pt>
                  <c:pt idx="40">
                    <c:v>20</c:v>
                  </c:pt>
                </c:lvl>
              </c:multiLvlStrCache>
            </c:multiLvlStrRef>
          </c:cat>
          <c:val>
            <c:numRef>
              <c:f>Sheet1!$D$2:$D$42</c:f>
              <c:numCache>
                <c:formatCode>General</c:formatCode>
                <c:ptCount val="41"/>
                <c:pt idx="0">
                  <c:v>1</c:v>
                </c:pt>
                <c:pt idx="1">
                  <c:v>0.9150212546967148</c:v>
                </c:pt>
                <c:pt idx="2">
                  <c:v>0.8342089086131242</c:v>
                </c:pt>
                <c:pt idx="3">
                  <c:v>0.7579038671038232</c:v>
                </c:pt>
                <c:pt idx="4">
                  <c:v>0.6863375383129964</c:v>
                </c:pt>
                <c:pt idx="5">
                  <c:v>0.6196376659500785</c:v>
                </c:pt>
                <c:pt idx="6">
                  <c:v>0.5578377700676163</c:v>
                </c:pt>
                <c:pt idx="7">
                  <c:v>0.5008890404496807</c:v>
                </c:pt>
                <c:pt idx="8">
                  <c:v>0.44867357069183333</c:v>
                </c:pt>
                <c:pt idx="9">
                  <c:v>0.401017957901654</c:v>
                </c:pt>
                <c:pt idx="10">
                  <c:v>0.357706484276706</c:v>
                </c:pt>
                <c:pt idx="11">
                  <c:v>0.3184933074911364</c:v>
                </c:pt>
                <c:pt idx="12">
                  <c:v>0.2831132896397801</c:v>
                </c:pt>
                <c:pt idx="13">
                  <c:v>0.2512912715812647</c:v>
                </c:pt>
                <c:pt idx="14">
                  <c:v>0.22274974172486287</c:v>
                </c:pt>
                <c:pt idx="15">
                  <c:v>0.1972149533750446</c:v>
                </c:pt>
                <c:pt idx="16">
                  <c:v>0.17442161518448232</c:v>
                </c:pt>
                <c:pt idx="17">
                  <c:v>0.1541163202818685</c:v>
                </c:pt>
                <c:pt idx="18">
                  <c:v>0.13605989753345077</c:v>
                </c:pt>
                <c:pt idx="19">
                  <c:v>0.12002886942610409</c:v>
                </c:pt>
                <c:pt idx="20">
                  <c:v>0.10581619077726293</c:v>
                </c:pt>
                <c:pt idx="21">
                  <c:v>0.09323142541848432</c:v>
                </c:pt>
                <c:pt idx="22">
                  <c:v>0.08210049762115978</c:v>
                </c:pt>
                <c:pt idx="23">
                  <c:v>0.07226513379853525</c:v>
                </c:pt>
                <c:pt idx="24">
                  <c:v>0.0635820895578365</c:v>
                </c:pt>
                <c:pt idx="25">
                  <c:v>0.05592223846719155</c:v>
                </c:pt>
                <c:pt idx="26">
                  <c:v>0.04916958244024904</c:v>
                </c:pt>
                <c:pt idx="27">
                  <c:v>0.04322022958877373</c:v>
                </c:pt>
                <c:pt idx="28">
                  <c:v>0.03798137369506442</c:v>
                </c:pt>
                <c:pt idx="29">
                  <c:v>0.03337029992818195</c:v>
                </c:pt>
                <c:pt idx="30">
                  <c:v>0.029313433821541664</c:v>
                </c:pt>
                <c:pt idx="31">
                  <c:v>0.025745444572334308</c:v>
                </c:pt>
                <c:pt idx="32">
                  <c:v>0.022608409147599196</c:v>
                </c:pt>
                <c:pt idx="33">
                  <c:v>0.019851040239659827</c:v>
                </c:pt>
                <c:pt idx="34">
                  <c:v>0.01742797858506825</c:v>
                </c:pt>
                <c:pt idx="35">
                  <c:v>0.015299148356932508</c:v>
                </c:pt>
                <c:pt idx="36">
                  <c:v>0.013429173101571112</c:v>
                </c:pt>
                <c:pt idx="37">
                  <c:v>0.011786848885929008</c:v>
                </c:pt>
                <c:pt idx="38">
                  <c:v>0.010344670846043975</c:v>
                </c:pt>
                <c:pt idx="39">
                  <c:v>0.009078409094403122</c:v>
                </c:pt>
                <c:pt idx="40">
                  <c:v>0.00796672988857815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A5568"/>
                    </a:solidFill>
                    <a:latin typeface="Arial"/>
                  </a:rPr>
                  <a:t>minutos até a chegada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6350" cap="flat">
              <a:solidFill>
                <a:srgbClr val="E3E0D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última apresentação mostramos o modelo de Huff com o 2SFCA e o Gini. Ao testar aqueles mapas com mais cuidado, apareceram duas perguntas: quem de fato atende cada chamado, e o que um minuto a mais custa para o paciente. Hoje mostramos o modelo de despacho, que responde à primeira, a função objetivo de vidas salvas, que responde à segunda, e depois comparamos todos os métodos — inclusive os anteriores — em todas as métricas.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despacho descreve o que o regulador faz: ele não sorteia uma base, manda a mais próxima que estiver livre. O modelo tem um único parâmetro, a ocupação q, e ele é medido: contamos as saídas de USB e USA da capital no SIA/SUS e aplicamos a lei de Little. A duração de cada saída não está no SIA; usamos 70 minutos no cenário central e testamos 45 e 100 depois. É o mesmo raciocínio dos modelos clássicos de cobertura com ocupação, de Daskin e de ReVelle e Hogan.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dois modelos respondem à mesma pergunta: em média, quanto tempo até uma USA chegar a este setor da periferia? Cada um dá a cada USA uma chance de ser a que atende, e o tempo esperado é a média ponderada. No Huff, a chance vem da distância. A USA de 22 min recebe peso quase zero só por estar longe, e o Huff calcula como se a de 10 min viesse sempre: 10,00 min. No despacho, a distância só decide a ordem. A de 10 min vai quando está livre; quando está ocupada, o que acontece 27% do tempo, vai a de 22 min. Somando, o tempo esperado sobe para 13,16 min: 3,2 min a mais do que o Huff dizia. No centro o erro é pequeno e vai no sentido oposto, porque as USAs estão perto umas das outras. O problema do Huff está na periferia, que é onde o projeto quer medir desigualdade. Detalhe: q = 0,27 não é a ocupação medida no SIA; é a que torna o despacho comparável ao Huff com β = 4,5.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ideia central da função objetivo. O despacho dá, para cada setor, a chance de cada base atender — portanto uma distribuição do tempo de chegada. Para comparar mapas precisamos resumir essa distribuição numa média de alguma função g do tempo. O tempo médio que usávamos é o caso em que g é uma reta: cada minuto pesa igual. A cobertura, o caso em que g é um degrau. A sobrevida usa a curva medida em 9.273 paradas cardíacas no Canadá (De Maio, 2003). Se a curva fosse reta, os dois objetivos escolheriam o mesmo mapa; como os primeiros minutos valem mais, os mapas mudam. Erkut, Ingolfsson e Erdoğan (2008) propuseram exatamente isso para ambulâncias: incorporar a função de sobrevivência aos modelos de cobertura (leitura do resumo do artigo).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função objetivo tem duas parcelas na mesma unidade. A primeira é a média da cidade. A segunda é a média dos 10% mais mal servidos, o CVaR, uma medida que vem de finanças. Ela ocupa o lugar que antes era do Gini. O Gini mede se os setores são parecidos, e pode melhorar sem que ninguém melhore; o CVaR só melhora se os piores melhorarem. O próximo slide mostra o que isso muda nos números. As restrições mantêm a frota de hoje, limitam quantas ambulâncias mudam de base e impedem que o atendimento dos outros chamados piore. Os tempos foram calibrados para reproduzir os 20 minutos que a Prefeitura informa para os casos mais graves, porque a sobrevida depende do relógio certo.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está a comparação completa. Cada linha é um método; cada grupo de colunas, um conjunto de métricas: as que usávamos (tempo médio e Gini pelo Huff), a cobertura dos 10% piores pelo despacho, e as de vidas salvas. Os métodos: Huff + 2SFCA com Gini é o que apresentamos antes; despacho + 2SFCA é o mesmo otimizador com o despacho no lugar do Huff; o p-median é a solução clássica; despacho + vidas é a função objetivo nova, com dois pesos de equidade. Leitura: nas métricas anteriores, Huff + 2SFCA continua com o menor Gini, e o tempo médio quase não separa os métodos. Na coluna dos 10% piores aparece por que a equidade passou a ser medida assim: no mapa de menor Gini, os piores ficam quase todos entre 10 e 15 minutos. Em 15 minutos ele empata com o p-median, mas em 10 quase não chega, enquanto o p-median alcança um terço deles. Em vidas, a ordem é outra, e o próximo slide explica o papel do p-median nessa ordem.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ponto precisa ficar claro. Na apresentação anterior, o p-median era a referência e o Huff + 2SFCA o superava: Gini 2,8 vezes menor com praticamente o mesmo tempo médio. Nas métricas de vidas o resultado se inverte: o p-median salva 4,0 pessoas a mais por 1.000 paradas cardíacas — algo como 26 vidas por ano na capital, com a incidência de um registro europeu —, tem CVaR maior (25,3 contra 17,5) e dá aos 10% piores 34,5% de chance de USA em 10 minutos, contra 0,1%. A razão: a sobrevida cai rápido nos primeiros minutos, e o p-median é justamente quem minimiza o tempo até a unidade mais próxima. O Gini equilibrava a oferta por habitante, não o tempo de chegada. Esse resultado é o que nos levou a usar o p-median como ponto de partida da busca por vidas.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mapas, com a mesma escala de cor. O fundo é a sobrevida a uma parada cardíaca em cada setor; os símbolos são as bases. Da rede de hoje para os mapas otimizados, as bases se espalham: 92, 113 e 123 locais, e o fundo escurece — mais sobrevida. Os dois mapas de vidas têm as USA nos mesmos locais do p-median, porque o piso de cobertura do chamado grave as prende ali; eles diferem só nas USB. Os números acima de cada mapa são os da tabela: vidas na cidade e nos 10% piores. Entre λ = 0 e λ = 1 mudam só USB: com peso na equidade, o otimizador abre mão de 2,0 vidas por mil na média para ganhar 9,2 nos 10% mais mal servidos. Qual dos dois usar é uma escolha de valores; o modelo mostra o preço de cada 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Fechando. O despacho torna o modelo de quem atende fiel ao SAMU e mensurável. A função objetivo coloca a sobrevida no centro, sem perder a equidade. Na comparação, cada métrica conta uma parte: o Huff + 2SFCA equilibra a oferta; o p-median e o despacho + vidas salvam mais. E o ganho sobre a rede de hoje é grande, da ordem de uma centena de vidas por ano, mesmo com mudanças graduais.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287/trsc.17.1.48" TargetMode="External"/><Relationship Id="rId3" Type="http://schemas.openxmlformats.org/officeDocument/2006/relationships/hyperlink" Target="https://doi.org/10.1287/trsc.23.3.192" TargetMode="External"/><Relationship Id="rId4" Type="http://schemas.openxmlformats.org/officeDocument/2006/relationships/hyperlink" Target="http://tabnet.datasus.gov.br/cgi/sia/qadescr.htm" TargetMode="External"/><Relationship Id="rId1" Type="http://schemas.openxmlformats.org/officeDocument/2006/relationships/image" Target="../media/image-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77/002224296402800307" TargetMode="External"/><Relationship Id="rId3" Type="http://schemas.openxmlformats.org/officeDocument/2006/relationships/hyperlink" Target="https://doi.org/10.1287/trsc.17.1.48" TargetMode="External"/><Relationship Id="rId1" Type="http://schemas.openxmlformats.org/officeDocument/2006/relationships/chart" Target="/ppt/charts/chart1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hyperlink" Target="https://doi.org/10.1287/trsc.17.1.48" TargetMode="External"/><Relationship Id="rId5" Type="http://schemas.openxmlformats.org/officeDocument/2006/relationships/hyperlink" Target="https://doi.org/10.1002/nav.20267" TargetMode="External"/><Relationship Id="rId6" Type="http://schemas.openxmlformats.org/officeDocument/2006/relationships/hyperlink" Target="https://doi.org/10.1067/mem.2003.266" TargetMode="External"/><Relationship Id="rId3" Type="http://schemas.openxmlformats.org/officeDocument/2006/relationships/chart" Target="/ppt/charts/chart2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21314/JOR.2000.038" TargetMode="External"/><Relationship Id="rId3" Type="http://schemas.openxmlformats.org/officeDocument/2006/relationships/hyperlink" Target="https://prefeitura.sp.gov.br/web/saude/w/noticias/359560" TargetMode="External"/><Relationship Id="rId1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resuscitation.2019.12.042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67/mem.2003.266" TargetMode="External"/><Relationship Id="rId2" Type="http://schemas.openxmlformats.org/officeDocument/2006/relationships/hyperlink" Target="https://doi.org/10.1016/j.resuscitation.2019.12.042" TargetMode="External"/><Relationship Id="rId3" Type="http://schemas.openxmlformats.org/officeDocument/2006/relationships/hyperlink" Target="https://prefeitura.sp.gov.br/web/saude/w/noticias/359560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120640" cy="512064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1626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88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MAI5003 · PROBABILIDADE E ESTATÍSTICA · REALOCAÇÃO DE USB E USA EM SÃO PAULO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colocar as ambulâncias: despacho real e vidas salvas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2461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i="1" dirty="0">
                <a:solidFill>
                  <a:srgbClr val="C9D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os testes com Huff + 2SFCA nos levaram a medir: quem de fato atende cada chamado e quantas vidas cada mapa de bases salva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USB e 16 USA · 26.889 setores censitários · 1.107 locais candidatos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8D9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MAI5003 · 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QUEM ATENDE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de despacho: vai a ambulância livre mais próxima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chega um chamado, o médico regulador percorre as ambulâncias da mais próxima para a mais distante e manda a primeira que estiver livre: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92024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993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mais próxima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ocupada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01568" y="192024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84448" y="1993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mais próxima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ocupada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36208" y="192024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9088" y="1993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3ª mais próxima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19088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 → vai ela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70848" y="192024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53728" y="1993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4ª mais próxima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253728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é consultada</a:t>
            </a:r>
            <a:endParaRPr lang="en-US" sz="1400" dirty="0"/>
          </a:p>
        </p:txBody>
      </p:sp>
      <p:pic>
        <p:nvPicPr>
          <p:cNvPr id="18" name="Image 0" descr="C:\Users\lucas\Documents\MECAI\Estatistica\samu-usb-usa\figs\fase2\formulas\desp_ge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017520"/>
            <a:ext cx="3218688" cy="4572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4315968" y="29260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cada ambulância está ocupada uma fração q do tempo, a k-ésima mais próxima atende quando as k−1 anteriores estão ocupadas (qᵏ⁻¹) e ela está livre (1−q). A distância decide a ordem; a ocupação decide quem vai.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66928" y="38862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95528" y="399592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3000" b="1" dirty="0">
                <a:solidFill>
                  <a:srgbClr val="2E7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0,35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795528" y="4617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ocupação de cada USB: 35% do tempo fora, atendendo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401568" y="38862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30168" y="399592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3000" b="1" dirty="0">
                <a:solidFill>
                  <a:srgbClr val="2E7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0,21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3630168" y="4617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ocupação de cada USA: menor, porque ela fica para os casos graves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236208" y="388620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64808" y="39593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vem q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464808" y="4279392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saídas registradas no SIA/SUS em 12 meses (280.822 de USB e 25.217 de USA), pela lei de Little: saídas por hora × duração de cada saída ÷ número de ambulâncias.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a regra que o SAMU de fato segue, com um único parâmetro que pode ser medido nos dados públicos do SUS.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6455664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</a:t>
            </a:r>
            <a:pPr indent="0" marL="0">
              <a:buNone/>
            </a:pPr>
            <a:r>
              <a:rPr lang="en-US" sz="900" u="sng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doi.org/10.1287/trsc.17.1.48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Daskin (1983)</a:t>
            </a:r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https://doi.org/10.1287/trsc.23.3.192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ReVelle &amp; Hogan (1989)</a:t>
            </a:r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http://tabnet.datasus.gov.br/cgi/sia/qadescr.ht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SIA/SUS · notas técnicas</a:t>
            </a:r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dados do projeto: dados/fase2/sp_utilizacao.json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QUEM ATENDE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exemplo: o Huff esconde a demora da periferia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3258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setor da periferia tem USAs a 10, 22 e 25 min. Em média, quanto tempo até uma USA chegar? Cada modelo dá a cada USA uma chance de ser a que atende; o tempo esperado é a média dos tempos, ponderada por essas chances.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704088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" y="208483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periférico · USAs a 10, 22 e 25 min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04088" y="2395728"/>
          <a:ext cx="676656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795528" y="4224528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Huff: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× 10 + 0% × 22 + 0% × 25 ≈ </a:t>
            </a:r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 min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2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Despacho: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× 10 + 20% × 22 + 5% × 25 ≈ </a:t>
            </a:r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2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13,16 min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95528" y="48920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 Huff calcula como se a USA de 10 min viesse sempre e esconde 3,16 min de demora.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863840" y="2011680"/>
            <a:ext cx="3767328" cy="2286000"/>
          </a:xfrm>
          <a:prstGeom prst="roundRect">
            <a:avLst>
              <a:gd name="adj" fmla="val 4000"/>
            </a:avLst>
          </a:prstGeom>
          <a:solidFill>
            <a:srgbClr val="FBEAE7"/>
          </a:solidFill>
          <a:ln w="9525">
            <a:solidFill>
              <a:srgbClr val="FBEAE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92440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Huff erra aqui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242316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Huff, a chance cai com a distância: a USA de 22 min recebe 0,008%, quase nunca vem. No despacho, a de 10 min está ocupada 27% do tempo; nessas vezes a de 22 min é a livre mais próxima e vai: 20% dos chamados.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863840" y="4434840"/>
            <a:ext cx="3767328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92440" y="4498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no centro?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477316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USAs a 2 e 4 min: 2,85 min no Huff, 2,39 no despacho. O erro é pequeno e no sentido oposto.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periferia, onde as USAs estão longe umas das outras, o Huff faz o setor parecer mais bem servido do que é — justamente onde a equidade importa. O despacho põe essa demora no cálculo.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6455664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</a:t>
            </a:r>
            <a:pPr indent="0" marL="0">
              <a:buNone/>
            </a:pPr>
            <a:r>
              <a:rPr lang="en-US" sz="900" u="sng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doi.org/10.1177/002224296402800307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Huff (1964)</a:t>
            </a:r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https://doi.org/10.1287/trsc.17.1.48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Daskin (1983)</a:t>
            </a:r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dados do projeto: q = 0,27 é a ocupação equivalente a β = 4,5; se todas estão ocupadas, o chamado conta para a mais próxima (por isso 75%, não 73%)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A FUNÇÃO OBJETIVO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prioridade é salvar vidas: quanto vale cada minuto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pic>
        <p:nvPicPr>
          <p:cNvPr id="5" name="Image 0" descr="C:\Users\lucas\Documents\MECAI\Estatistica\samu-usb-usa\figs\fase3\formulas\g_ge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71600"/>
            <a:ext cx="2780821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20116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despacho, cada setor tem uma distribuição do tempo de chegada. Até aqui resumíamos essa distribuição pelo tempo médio; a pergunta é quanto vale chegar em t minutos.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2834640"/>
            <a:ext cx="54864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290779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g(t) = 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578608" y="2898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2578608" y="31821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minuto pesa igual, chegue a ambulância em 3 ou em 13 min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3721608"/>
            <a:ext cx="54864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379476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g(t) = 1[t ≤ τ]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578608" y="37856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2578608" y="4069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importa chegar antes do limite (15 min); 5 ou 14 min dão no mesmo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66928" y="4608576"/>
            <a:ext cx="54864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" y="4681728"/>
            <a:ext cx="1783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E7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g(t) = s(t)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2578608" y="46725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sobrevida</a:t>
            </a:r>
            <a:endParaRPr lang="en-US" sz="1350" dirty="0"/>
          </a:p>
        </p:txBody>
      </p:sp>
      <p:pic>
        <p:nvPicPr>
          <p:cNvPr id="18" name="Image 1" descr="C:\Users\lucas\Documents\MECAI\Estatistica\samu-usb-usa\figs\fase3\formulas\sobre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4974336"/>
            <a:ext cx="2349149" cy="5486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001768" y="4974336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medida em 9.273 paradas cardíacas (De Maio, 2003)</a:t>
            </a:r>
            <a:endParaRPr lang="en-US" sz="10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327648" y="132588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Shape 16"/>
          <p:cNvSpPr/>
          <p:nvPr/>
        </p:nvSpPr>
        <p:spPr>
          <a:xfrm>
            <a:off x="6327648" y="470916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437376" y="473659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2E7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12,0%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6437376" y="513892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sobrevivem se o DEA chega em 5 min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8129016" y="470916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238744" y="473659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2E7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4,6%</a:t>
            </a:r>
            <a:endParaRPr lang="en-US" sz="2000" dirty="0"/>
          </a:p>
        </p:txBody>
      </p:sp>
      <p:sp>
        <p:nvSpPr>
          <p:cNvPr id="26" name="Text 21"/>
          <p:cNvSpPr txBox="1"/>
          <p:nvPr/>
        </p:nvSpPr>
        <p:spPr>
          <a:xfrm>
            <a:off x="8238744" y="513892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sobrevivem se o DEA chega em 9 min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9930384" y="470916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10040112" y="473659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2E7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1,0%</a:t>
            </a:r>
            <a:endParaRPr lang="en-US" sz="2000" dirty="0"/>
          </a:p>
        </p:txBody>
      </p:sp>
      <p:sp>
        <p:nvSpPr>
          <p:cNvPr id="29" name="Text 24"/>
          <p:cNvSpPr txBox="1"/>
          <p:nvPr/>
        </p:nvSpPr>
        <p:spPr>
          <a:xfrm>
            <a:off x="10040112" y="513892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sobrevivem se o DEA chega em 15 min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566928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parada cardíaca é a emergência em que se sabe medir quanto cada minuto custa: entre 9 e 10 min a chance de sobreviver cai 22%. Os primeiros minutos valem muito mais que os últimos.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566928" y="6455664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</a:t>
            </a:r>
            <a:pPr indent="0" marL="0">
              <a:buNone/>
            </a:pPr>
            <a:r>
              <a:rPr lang="en-US" sz="900" u="sng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https://doi.org/10.1287/trsc.17.1.48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Daskin (1983)</a:t>
            </a:r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https://doi.org/10.1002/nav.20267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Erkut, Ingolfsson &amp; Erdoğan (2008)</a:t>
            </a:r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https://doi.org/10.1067/mem.2003.266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 Maio et al. (2003)</a:t>
            </a:r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dados do projeto: deck_vidas.json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A FUNÇÃO OBJETIVO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função objetivo: vidas na cidade e nos 10% mais mal servidos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6675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2E7D5A"/>
            </a:solidFill>
            <a:prstDash val="solid"/>
          </a:ln>
        </p:spPr>
      </p:sp>
      <p:pic>
        <p:nvPicPr>
          <p:cNvPr id="6" name="Image 0" descr="C:\Users\lucas\Documents\MECAI\Estatistica\samu-usb-usa\figs\fase3\formulas\objeti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627632"/>
            <a:ext cx="3911173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2E7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vidas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801368" y="2670048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sobreviventes esperados por 1.000 paradas cardíacas na cidade: a curva s(t) aplicada ao tempo de cada base, pela chance de ela ser a primeira livre a chegar.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6758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2E7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CVaR₁₀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801368" y="3694176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medida, só entre os 10% da população mais mal servidos. Sobe apenas se a situação de quem está pior melhorar.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470001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801368" y="4718304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peso da equidade. Com λ = 1, um ganho para quem está nos 10% piores pesa 11 vezes mais que o mesmo ganho para os demais.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589520" y="1371600"/>
            <a:ext cx="404164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181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Sujeito a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818120" y="17830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frota de hoje: 107 USB e 16 USA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máximo 10 unidades por local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máximo K ambulâncias mudam de base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pisos: a chance de USB no chamado básico e de USA no grave, em até 15 min, não pode cair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589520" y="3611880"/>
            <a:ext cx="4041648" cy="1965960"/>
          </a:xfrm>
          <a:prstGeom prst="roundRect">
            <a:avLst>
              <a:gd name="adj" fmla="val 4651"/>
            </a:avLst>
          </a:prstGeom>
          <a:solidFill>
            <a:srgbClr val="FFF4DC"/>
          </a:solidFill>
          <a:ln w="9525">
            <a:solidFill>
              <a:srgbClr val="FFF4D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1812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Tempos calibrados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818120" y="40233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ruas em trânsito livre davam 9,8 min até o chamado grave; a Prefeitura informa ~20. Usamos 3 min até a saída + tempo de ruas × 1,82: a sobrevida depende do relógio certo.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566928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Vidas e CVaR₁₀ estão na mesma unidade — sobreviventes por 1.000 paradas cardíacas —, então a soma com peso λ tem leitura direta.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455664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</a:t>
            </a:r>
            <a:pPr indent="0" marL="0">
              <a:buNone/>
            </a:pPr>
            <a:r>
              <a:rPr lang="en-US" sz="900" u="sng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doi.org/10.21314/JOR.2000.038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Rockafellar &amp; Uryasev (2000)</a:t>
            </a:r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https://prefeitura.sp.gov.br/web/saude/w/noticias/359560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Prefeitura de SP, dez/2023</a:t>
            </a:r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dados do projeto: deck_evolucao.json, v1_calibracao.json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COMPARAÇÃO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 os métodos medidos por todas as métricas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858768" y="1353312"/>
            <a:ext cx="2286000" cy="45720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813048" y="1417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anteriores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6208" y="1353312"/>
            <a:ext cx="1463040" cy="45720"/>
          </a:xfrm>
          <a:prstGeom prst="rect">
            <a:avLst/>
          </a:prstGeom>
          <a:solidFill>
            <a:srgbClr val="7A5BA6"/>
          </a:solidFill>
          <a:ln w="12700">
            <a:solidFill>
              <a:srgbClr val="7A5B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90488" y="14173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90688" y="1353312"/>
            <a:ext cx="2468880" cy="45720"/>
          </a:xfrm>
          <a:prstGeom prst="rect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44968" y="1417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2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vidas salvas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1188720"/>
                <a:gridCol w="1188720"/>
                <a:gridCol w="1554480"/>
                <a:gridCol w="1280160"/>
                <a:gridCol w="1280160"/>
                <a:gridCol w="13258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E[T] (min)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 USA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piores: USA ≤ 10 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vidas /1.000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CVaR₁₀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ambulâncias movidas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8A8F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 de hoje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Huff + 2SFCA (Gini)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7A5B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despacho + 2SFCA (Gini)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p-median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E7D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despacho + vidas, λ = 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E7D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despacho + vidas, λ =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66928" y="4617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Negrito: melhor valor da coluna. E[T] e Gini (Huff, β = 4,5): quanto menor, melhor; as demais: quanto maior, melhor. Vidas e CVaR₁₀ em sobreviventes por 1.000 paradas cardíacas.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66928" y="498348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FBEAE7"/>
          </a:solidFill>
          <a:ln w="9525">
            <a:solidFill>
              <a:srgbClr val="FBEAE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5528" y="50474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métricas anteriores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795528" y="5330952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 + 2SFCA tem o menor Gini (0,028); no tempo médio, os quatro métodos otimizados ficam a menos de 5 s uns dos outros.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36208" y="498348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6F0EA"/>
          </a:solidFill>
          <a:ln w="9525">
            <a:solidFill>
              <a:srgbClr val="E6F0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64808" y="50474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equidade é medida pelos 10% piores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6464808" y="5330952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despacho, os 10% mais mal servidos do Huff + 2SFCA (menor Gini) ficam quase todos entre 10 e 15 min. Em até 15 min, ele e o p-median empatam (67,2%); em até 10 min, o p-median alcança 34,5% e o do Gini, 0,1%. O Gini iguala a oferta por habitante, mas não vê esses minutos.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566928" y="6455664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</a:t>
            </a:r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do projeto, deck_evolucao.json (E[T] e Gini: Huff; 10% piores: despacho; vidas e CVaR₁₀: v2_reavaliacao, v3_busca)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COMPARAÇÃO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p-median: perdia nas métricas anteriores, ganha em vidas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3716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p-median põe as bases onde o tempo médio até a ambulância mais próxima é o menor possível. Ele era a referência que o Huff + 2SFCA superava — e superava mesmo, no Gini. Medido em vidas, o resultado se inverte: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48840"/>
          <a:ext cx="67665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25880"/>
                <a:gridCol w="132588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Huff + 2SFCA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p-median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diferença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 da USA (menor é melhor)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2,8× pior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médio, Huff (min)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E7D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vidas por 1.000 paradas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E7D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vidas nos 10% piores (CVaR₁₀)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+7,8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E7D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piores: USA em até 10 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+34,4 p.p.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" y="46634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Laranja: métricas anteriores. Verde: métricas de vidas e dos 10% piores.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589520" y="2148840"/>
            <a:ext cx="4041648" cy="1417320"/>
          </a:xfrm>
          <a:prstGeom prst="roundRect">
            <a:avLst>
              <a:gd name="adj" fmla="val 6452"/>
            </a:avLst>
          </a:prstGeom>
          <a:solidFill>
            <a:srgbClr val="E6F0EA"/>
          </a:solidFill>
          <a:ln w="9525">
            <a:solidFill>
              <a:srgbClr val="E6F0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18120" y="22128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2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+4,0 por 1.000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2788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do p-median sobre o Huff + 2SFCA em vidas: ordem de 26 vidas por ano na capital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589520" y="3703320"/>
            <a:ext cx="404164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18120" y="3776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se inverte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818120" y="4087368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sobrevida premia chegar cedo, e é isso que o p-median otimiza: a unidade mais próxima, que no despacho é a que vai na maioria das vezes. O Gini iguala ambulâncias por habitante, o que não garante chegar cedo.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despacho + 2SFCA fica perto (62,2), mas ainda abaixo do p-median. Por isso a otimização de vidas parte do p-median e procura melhorá-lo.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6455664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</a:t>
            </a:r>
            <a:pPr indent="0" marL="0">
              <a:buNone/>
            </a:pPr>
            <a:r>
              <a:rPr lang="en-US" sz="900" u="sng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doi.org/10.1016/j.resuscitation.2019.12.042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Gräsner et al. (2020), EuReCa TWO</a:t>
            </a:r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dados do projeto: deck_evolucao.json; vidas por ano com a incidência do EuReCa TWO (deck_vidas.json)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RESULTADO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ficam as ambulâncias em cada mapa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pic>
        <p:nvPicPr>
          <p:cNvPr id="5" name="Image 0" descr="C:\Users\lucas\Documents\MECAI\Estatistica\samu-usb-usa\figs\fase3\v05_mapa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48" y="1325880"/>
            <a:ext cx="10058400" cy="364877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502037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do setor: sobreviventes por 1.000 paradas cardíacas (mais escuro = mais sobrevida). Círculos: USB; triângulos: USA; o tamanho indica quantas unidades há no local.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66928" y="5404426"/>
            <a:ext cx="3520440" cy="950654"/>
          </a:xfrm>
          <a:prstGeom prst="roundRect">
            <a:avLst>
              <a:gd name="adj" fmla="val 961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546843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mais espalhadas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5751898"/>
            <a:ext cx="3154680" cy="566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locais hoje, 113 no Huff + 2SFCA e 123 nos mapas de vidas: uma ambulância por local.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15968" y="5404426"/>
            <a:ext cx="3520440" cy="950654"/>
          </a:xfrm>
          <a:prstGeom prst="roundRect">
            <a:avLst>
              <a:gd name="adj" fmla="val 961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98848" y="546843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mesmas USA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498848" y="5751898"/>
            <a:ext cx="3154680" cy="566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dois mapas de vidas, as 16 USA ficam nos locais do p-median, por causa do piso do chamado grave.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65008" y="5404426"/>
            <a:ext cx="3520440" cy="950654"/>
          </a:xfrm>
          <a:prstGeom prst="roundRect">
            <a:avLst>
              <a:gd name="adj" fmla="val 961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47888" y="546843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 × λ = 1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247888" y="5751898"/>
            <a:ext cx="3154680" cy="566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Diferem só nas USB. Com λ = 1, o mapa troca 2,0 vidas por 1.000 na média por +9,2 nos 10% piores (tabela do slide 6).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566928" y="6455664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</a:t>
            </a:r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do projeto, figs/fase3/v05_mapa4.png, v05_mapa4.json (figuras.py mapa4)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120640" cy="512064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F3D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levar desta apresentação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475488" cy="475488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52728" y="17373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8FD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Despacho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3950208" y="1600200"/>
            <a:ext cx="7680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 a regra real do SAMU com um parâmetro medido no SUS, mostra a demora da periferia e confirma o β = 4,5 que usávamos (faixa de 3,5 a 4,7 min).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715768"/>
            <a:ext cx="475488" cy="475488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2715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52728" y="267004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8FD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Vidas como prioridade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950208" y="2532888"/>
            <a:ext cx="7680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sobrevida é a mesma média do tempo médio, com cada minuto pesado pelo que custa em vidas; a equidade passa a olhar os 10% mais mal servidos.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3648456"/>
            <a:ext cx="475488" cy="475488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3648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52728" y="360273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8FD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3950208" y="3465576"/>
            <a:ext cx="7680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 + 2SFCA segue com o menor Gini; em vidas, o p-median supera o Huff + 2SFCA em 4,0 por 1.000, e despacho + vidas soma mais 1,3 partindo do p-median.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4581144"/>
            <a:ext cx="475488" cy="475488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4581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52728" y="45354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8FD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de hoje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3950208" y="4398264"/>
            <a:ext cx="7680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44,1 para 63,8 sobreviventes por 1.000 paradas cardíacas: ordem de 127 vidas por ano, com mudança possível em etapas.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577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i="1" dirty="0">
                <a:solidFill>
                  <a:srgbClr val="C9D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passos: ocupação dependente entre ambulâncias vizinhas (hipercubo aproximado, Budge, Ingolfsson &amp; Erkut, 2009) e demanda por incidência, não por população.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DISCUSSÃO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Limitações: o que ainda é hipótese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33856" y="13990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curva de sobrevida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33856" y="16916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Ontário, anos 1990, paradas de causa cardíaca. O nível absoluto em São Paulo pode ser outro; a comparação entre mapas é mais confiável que o número de vidas.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6208" y="141732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36208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03136" y="13990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Vidas por ano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03136" y="16916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Dependem de uma incidência de parada cardíaca europeia (EuReCa TWO), testada com metade e 1,5 vez o valor. São ordem de grandeza, não previsão.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278892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" y="2770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 em um ponto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" y="30632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fator de trânsito vem de um único número da Prefeitura (20 min nos casos mais graves); os cenários testam trânsito livre e mais pesado.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36208" y="278892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36208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03136" y="2770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das saídas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03136" y="30632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SIA conta saídas, não quanto tempo cada uma durou; entra como cenário (45/70/100 min).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416052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" y="41422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" y="44348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Paradas cardíacas onde as pessoas moram, sem idade nem população de dia.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36208" y="416052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6208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803136" y="41422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Otimalidade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803136" y="44348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busca acha o ótimo nos casos pequenos, onde dá para conferir; no caso real não há certificado.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há validação externa: nenhum dado público traz tempos de resposta observados por bairro para comparar com o modelo.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455664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</a:t>
            </a:r>
            <a:pPr indent="0" marL="0">
              <a:buNone/>
            </a:pPr>
            <a:r>
              <a:rPr lang="en-US" sz="900" u="sng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doi.org/10.1067/mem.2003.266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 Maio et al. (2003)</a:t>
            </a:r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doi.org/10.1016/j.resuscitation.2019.12.042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Gräsner et al. (2020), EuReCa TWO</a:t>
            </a:r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https://prefeitura.sp.gov.br/web/saude/w/noticias/359560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Prefeitura de SP, dez/2023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1732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Huff, D. (1964). Defining and estimating a trading area. Journal of Marketing 28(3). doi:10.1177/002224296402800307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Luo, W. &amp; Wang, F. (2003). Measures of spatial accessibility to health care in a GIS environment. Environment and Planning B 30(6). doi:10.1068/b29120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Daskin, M. (1983). A maximum expected covering location model. Transportation Science 17(1). doi:10.1287/trsc.17.1.48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ReVelle, C. &amp; Hogan, K. (1989). The maximum availability location problem. Transportation Science 23(3). doi:10.1287/trsc.23.3.192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Erkut, E., Ingolfsson, A. &amp; Erdoğan, G. (2008). Ambulance location for maximum survival. Naval Research Logistics 55(1). doi:10.1002/nav.20267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Maio, V. J. et al. (2003). Optimal defibrillation response intervals for maximum out-of-hospital cardiac arrest survival rates. Ann. Emerg. Med. 42(2). doi:10.1067/mem.2003.266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Rockafellar, R. T. &amp; Uryasev, S. (2000). Optimization of conditional value-at-risk. Journal of Risk 2(3). doi:10.21314/JOR.2000.038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Budge, S., Ingolfsson, A. &amp; Erkut, E. (2009). Approximating vehicle dispatch probabilities for emergency service systems. Operations Research 57(1). doi:10.1287/opre.1080.0591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Gräsner, J.-T. et al. (2020). Survival after out-of-hospital cardiac arrest in Europe — EuReCa TWO. Resuscitation 148. doi:10.1016/j.resuscitation.2019.12.042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Dados: IBGE, Censo 2022 · CNES/DATASUS · SIA/SUS (PASP, SIGTAP) · OpenStreetMap · Prefeitura de SP (21/12/2023). Relatórios completos: fase2_sao_paulo/docs/ e fase3_vidas/docs/.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Onde colocar as ambulâncias: despacho real e vidas salvas</dc:title>
  <dc:subject>PptxGenJS Presentation</dc:subject>
  <dc:creator>Grupo MAI5003</dc:creator>
  <cp:lastModifiedBy>Grupo MAI5003</cp:lastModifiedBy>
  <cp:revision>1</cp:revision>
  <dcterms:created xsi:type="dcterms:W3CDTF">2026-10-09T04:29:21Z</dcterms:created>
  <dcterms:modified xsi:type="dcterms:W3CDTF">2026-10-09T04:29:21Z</dcterms:modified>
</cp:coreProperties>
</file>