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5B2275-DED8-47B4-906C-3E2BE661713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apresentação conta o que foi feito depois da fase 2: trocamos o modelo de escolha (Huff) por um modelo do despacho real do SAMU, estimamos o único parâmetro dele com dado público do SUS, refizemos a otimização e validamos tudo com uma simulação.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FEA149-5D9A-444D-96F1-51FAD26FB2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27A9C-0AB4-4B68-A087-7D62B1FE8E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Leitura da esquerda para a direita. A peça 3 é a única que muda entre as fases: o Huff distribui os chamados por peso que cai com a distância; o despacho usa a ordem de proximidade e a ocupação q, estimada do SIA pela lei de Little (carga = taxa × tempo de serviço). O 2SFCA divide a oferta de cada base pela demanda que ela recebe e soma, por setor, o que cada setor enxerga; o Gini dessa acessibilidade (só USA) é o objetivo 2. O NSGA-II é um algoritmo genético multiobjetivo; o p-median (guloso + trocas de Teitz-Bart) entra como solução inicial e como comparação. A simulação de eventos discretos não usa as fórmulas do modelo: ela sorteia chamados e ocupações e serve para testar se o modelo acerta.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F1313-6E14-4AAE-B369-C3DD8D4356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Recapitulação em linguagem simples. Setor censitário = um pedaço de bairro com algumas centenas de moradores. O Gini é o mesmo índice usado para desigualdade de renda.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5CA429-E065-4A4E-930C-146D8DFC76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EEA44-B834-448B-969B-5FD7C4F368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22CD65-C917-41F2-A83B-1B109970B1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D8476-A6FB-47AD-BF99-EC30B54EA1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 = 0,27 é o valor que dá ao despacho o mesmo número efetivo de unidades que o Huff com beta 4,5 (slide da ponte). Os números são calculados pelo gerador com as mesmas fórmulas do código.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355CE-0327-4C08-98E6-A5888C6A1C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7BF8A9-DCF2-4947-BDE4-073D46A139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46BED-9FAA-408B-9FA2-63E8ED7881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7CF8A-1D31-412C-83E6-3EE0D15449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Faturado = registrado e aprovado no SIA/SUS. Não faturado = feito, mas não registrado. A comparação usa os códigos de atendimento pré-hospitalar por USB e USA (03.01.03.009-0 e 03.01.03.010-3) contra o total de atendimentos presenciais que a Prefeitura divulga. A frase sobre o repasse fixo vem de Malvestio &amp; Sousa (2024), Ciência &amp; Saúde Coletiva 29(1). O ajuste de ~8% em q é uma conta nossa, supondo a mesma fração não registrada em todos os meses; não foi aplicado aos resultados.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401558-16F8-4502-9737-213488B4AE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item 2 é uma inconsistência que não resolvemos: o número diário divulgado em dez/2023 é menos da metade do que o SIA registra e do que o próprio total anual da Prefeitura implica. Se o valor diário estivesse certo, q seria menos da metade do estimado.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84AAD-C598-413F-88D4-F2C01A8E0E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92E26-6677-4C4E-9054-81D6D89AC8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Nenhuma das fontes é de São Paulo para o tempo total por saída. Salvador: estudo de 465 ocorrências clínicas (REME 2019), duração total média de 2 h (DP 1h23) desde a abertura da ocorrência, com 22 min entre a abertura e a saída da base; descontar os 22 min é conta nossa. Califórnia: 5,9 milhões de entregas de paciente, média 42,8 min (mediana mensal por hospital 28,9 min); é outro sistema de saúde. Prefeitura de SP: notícia de 21/12/2023, média de 20 min para chegar ao local nos casos mais graves. Os resultados do projeto foram calculados nos três cenários (45, 70 e 100 min).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2B971-0F44-4BA7-837C-358C9F632E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BB5D85-38FF-43DC-B2BC-AA732411A1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650BD-82C3-4F00-8E88-7E3B94988D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A4D40A-206B-499D-A2BB-6C66C88ABB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9D74FC-F259-46E6-9A6E-5A79FBBA31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3A947B-1192-4B79-9902-544D0BFFE2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8D1D64-AA6D-41BC-A175-7936053D86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437B0-C4C4-411F-A792-35F87080AA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24F382-CF4D-4E3B-84A3-DD7935127B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AEC212-27F4-496B-8D96-F217552353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9462B5-B85E-4750-9EAE-326D8FDF7D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do texto do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ftp.ibge.gov.br/Censos/Censo_Demografico_2022/Agregados_por_Setores_Censitarios/" TargetMode="External"/><Relationship Id="rId2" Type="http://schemas.openxmlformats.org/officeDocument/2006/relationships/hyperlink" Target="https://cnes.datasus.gov.br/" TargetMode="External"/><Relationship Id="rId3" Type="http://schemas.openxmlformats.org/officeDocument/2006/relationships/hyperlink" Target="https://www.openstreetmap.org/copyright" TargetMode="External"/><Relationship Id="rId4" Type="http://schemas.openxmlformats.org/officeDocument/2006/relationships/hyperlink" Target="http://tabnet.datasus.gov.br/cgi/sia/qadescr.htm" TargetMode="External"/><Relationship Id="rId5" Type="http://schemas.openxmlformats.org/officeDocument/2006/relationships/hyperlink" Target="https://doi.org/10.1177/002224296402800307" TargetMode="External"/><Relationship Id="rId6" Type="http://schemas.openxmlformats.org/officeDocument/2006/relationships/hyperlink" Target="https://doi.org/10.1287/trsc.17.1.48" TargetMode="External"/><Relationship Id="rId7" Type="http://schemas.openxmlformats.org/officeDocument/2006/relationships/hyperlink" Target="https://doi.org/10.1068/b29120" TargetMode="External"/><Relationship Id="rId8" Type="http://schemas.openxmlformats.org/officeDocument/2006/relationships/hyperlink" Target="https://doi.org/10.1109/4235.996017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cnes.datasus.gov.br/" TargetMode="External"/><Relationship Id="rId2" Type="http://schemas.openxmlformats.org/officeDocument/2006/relationships/hyperlink" Target="https://ftp.ibge.gov.br/Censos/Censo_Demografico_2022/Agregados_por_Setores_Censitario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s://doi.org/10.1177/002224296402800307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doi.org/10.1287/trsc.17.1.48" TargetMode="External"/><Relationship Id="rId3" Type="http://schemas.openxmlformats.org/officeDocument/2006/relationships/hyperlink" Target="https://doi.org/10.1287/trsc.23.3.19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://tabnet.datasus.gov.br/cgi/sia/qadescr.htm" TargetMode="External"/><Relationship Id="rId3" Type="http://schemas.openxmlformats.org/officeDocument/2006/relationships/hyperlink" Target="https://cnes.datasus.gov.b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http://tabnet.datasus.gov.br/cgi/sia/qadescr.htm" TargetMode="External"/><Relationship Id="rId3" Type="http://schemas.openxmlformats.org/officeDocument/2006/relationships/hyperlink" Target="ftp://ftp.datasus.gov.br/dissemin/publicos/SIASUS/200801_/Dados/" TargetMode="External"/><Relationship Id="rId4" Type="http://schemas.openxmlformats.org/officeDocument/2006/relationships/hyperlink" Target="http://sigtap.datasus.gov.br/tabela-unificada/app/sec/inicio.jsp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://tabnet.datasus.gov.br/cgi/sia/qadescr.htm" TargetMode="External"/><Relationship Id="rId2" Type="http://schemas.openxmlformats.org/officeDocument/2006/relationships/hyperlink" Target="https://doi.org/10.1590/1413-81232024291.18482022" TargetMode="External"/><Relationship Id="rId3" Type="http://schemas.openxmlformats.org/officeDocument/2006/relationships/hyperlink" Target="https://prefeitura.sp.gov.br/web/saude/w/samu-192-como-usar-corretamente-e-evitar-sobrecarga-do-servi&#231;o-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prefeitura.sp.gov.br/w/saiba-como-usar-corretamente-os-servi&#231;os-do-samu" TargetMode="External"/><Relationship Id="rId2" Type="http://schemas.openxmlformats.org/officeDocument/2006/relationships/hyperlink" Target="https://prefeitura.sp.gov.br/web/saude/w/samu-192-como-usar-corretamente-e-evitar-sobrecarga-do-servi&#231;o-5" TargetMode="External"/><Relationship Id="rId3" Type="http://schemas.openxmlformats.org/officeDocument/2006/relationships/hyperlink" Target="https://prefeitura.sp.gov.br/web/saude/w/noticias/359560" TargetMode="External"/><Relationship Id="rId4" Type="http://schemas.openxmlformats.org/officeDocument/2006/relationships/hyperlink" Target="https://cnes.datasus.gov.br/" TargetMode="External"/><Relationship Id="rId5" Type="http://schemas.openxmlformats.org/officeDocument/2006/relationships/hyperlink" Target="http://tabnet.datasus.gov.br/cgi/sia/qadescr.htm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://tabnet.datasus.gov.br/cgi/sia/qadescr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prefeitura.sp.gov.br/web/saude/w/noticias/359560" TargetMode="External"/><Relationship Id="rId2" Type="http://schemas.openxmlformats.org/officeDocument/2006/relationships/hyperlink" Target="https://doi.org/10.5935/1415-2762.20190104" TargetMode="External"/><Relationship Id="rId3" Type="http://schemas.openxmlformats.org/officeDocument/2006/relationships/hyperlink" Target="https://doi.org/10.1001/jamanetworkopen.2024.5102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://tabnet.datasus.gov.br/cgi/sia/qadescr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openstreetmap.org/copyright" TargetMode="External"/><Relationship Id="rId2" Type="http://schemas.openxmlformats.org/officeDocument/2006/relationships/hyperlink" Target="https://ftp.ibge.gov.br/Censos/Censo_Demografico_2022/Agregados_por_Setores_Censitarios/" TargetMode="External"/><Relationship Id="rId3" Type="http://schemas.openxmlformats.org/officeDocument/2006/relationships/hyperlink" Target="https://cnes.datasus.gov.b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doi.org/10.1109/4235.99601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http://tabnet.datasus.gov.br/cgi/sia/qadescr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://tabnet.datasus.gov.br/cgi/sia/qadescr.htm" TargetMode="External"/><Relationship Id="rId2" Type="http://schemas.openxmlformats.org/officeDocument/2006/relationships/hyperlink" Target="https://www.openstreetmap.org/copyright" TargetMode="External"/><Relationship Id="rId3" Type="http://schemas.openxmlformats.org/officeDocument/2006/relationships/hyperlink" Target="https://prefeitura.sp.gov.br/web/saude/w/noticias/359560" TargetMode="External"/><Relationship Id="rId4" Type="http://schemas.openxmlformats.org/officeDocument/2006/relationships/hyperlink" Target="https://doi.org/10.5935/1415-2762.20190104" TargetMode="External"/><Relationship Id="rId5" Type="http://schemas.openxmlformats.org/officeDocument/2006/relationships/hyperlink" Target="https://doi.org/10.1001/jamanetworkopen.2024.5102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doi.org/10.1177/002224296402800307" TargetMode="External"/><Relationship Id="rId2" Type="http://schemas.openxmlformats.org/officeDocument/2006/relationships/hyperlink" Target="https://doi.org/10.1016/0305-0548(74)90076-8" TargetMode="External"/><Relationship Id="rId3" Type="http://schemas.openxmlformats.org/officeDocument/2006/relationships/hyperlink" Target="https://doi.org/10.1287/trsc.17.1.48" TargetMode="External"/><Relationship Id="rId4" Type="http://schemas.openxmlformats.org/officeDocument/2006/relationships/hyperlink" Target="https://doi.org/10.1287/trsc.23.3.192" TargetMode="External"/><Relationship Id="rId5" Type="http://schemas.openxmlformats.org/officeDocument/2006/relationships/hyperlink" Target="https://doi.org/10.1109/4235.996017" TargetMode="External"/><Relationship Id="rId6" Type="http://schemas.openxmlformats.org/officeDocument/2006/relationships/hyperlink" Target="https://doi.org/10.1068/b29120" TargetMode="External"/><Relationship Id="rId7" Type="http://schemas.openxmlformats.org/officeDocument/2006/relationships/hyperlink" Target="https://doi.org/10.1016/j.cor.2005.03.022" TargetMode="External"/><Relationship Id="rId8" Type="http://schemas.openxmlformats.org/officeDocument/2006/relationships/hyperlink" Target="https://doi.org/10.1287/opre.1080.0591" TargetMode="External"/><Relationship Id="rId9" Type="http://schemas.openxmlformats.org/officeDocument/2006/relationships/hyperlink" Target="https://doi.org/10.5935/1415-2762.20190104" TargetMode="External"/><Relationship Id="rId10" Type="http://schemas.openxmlformats.org/officeDocument/2006/relationships/hyperlink" Target="https://doi.org/10.1590/1413-81232024291.18482022" TargetMode="External"/><Relationship Id="rId11" Type="http://schemas.openxmlformats.org/officeDocument/2006/relationships/hyperlink" Target="https://doi.org/10.1001/jamanetworkopen.2024.51022" TargetMode="External"/><Relationship Id="rId12" Type="http://schemas.openxmlformats.org/officeDocument/2006/relationships/hyperlink" Target="http://tabnet.datasus.gov.br/cgi/sia/qadescr.htm" TargetMode="External"/><Relationship Id="rId13" Type="http://schemas.openxmlformats.org/officeDocument/2006/relationships/hyperlink" Target="ftp://ftp.datasus.gov.br/dissemin/publicos/SIASUS/200801_/Dados/" TargetMode="External"/><Relationship Id="rId14" Type="http://schemas.openxmlformats.org/officeDocument/2006/relationships/hyperlink" Target="http://sigtap.datasus.gov.br/tabela-unificada/app/sec/inicio.jsp" TargetMode="External"/><Relationship Id="rId15" Type="http://schemas.openxmlformats.org/officeDocument/2006/relationships/hyperlink" Target="https://cnes.datasus.gov.br/" TargetMode="External"/><Relationship Id="rId16" Type="http://schemas.openxmlformats.org/officeDocument/2006/relationships/hyperlink" Target="https://ftp.ibge.gov.br/Censos/Censo_Demografico_2022/Agregados_por_Setores_Censitarios/" TargetMode="External"/><Relationship Id="rId17" Type="http://schemas.openxmlformats.org/officeDocument/2006/relationships/hyperlink" Target="https://www.openstreetmap.org/copyright" TargetMode="External"/><Relationship Id="rId18" Type="http://schemas.openxmlformats.org/officeDocument/2006/relationships/hyperlink" Target="https://prefeitura.sp.gov.br/w/saiba-como-usar-corretamente-os-servi&#231;os-do-samu" TargetMode="External"/><Relationship Id="rId19" Type="http://schemas.openxmlformats.org/officeDocument/2006/relationships/hyperlink" Target="https://prefeitura.sp.gov.br/web/saude/w/samu-192-como-usar-corretamente-e-evitar-sobrecarga-do-servi&#231;o-5" TargetMode="External"/><Relationship Id="rId20" Type="http://schemas.openxmlformats.org/officeDocument/2006/relationships/hyperlink" Target="https://prefeitura.sp.gov.br/web/saude/w/noticias/359560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26880" y="-2011680"/>
            <a:ext cx="5120280" cy="51202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67000" y="11887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0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MAI5003 · PROBABILIDADE E ESTATÍSTICA · FASE 2b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67000" y="160020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Quem atende o chamado?</a:t>
            </a:r>
            <a:endParaRPr lang="pt-B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67000" y="278892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C9D6E4"/>
                </a:solidFill>
                <a:effectLst/>
                <a:uFillTx/>
                <a:latin typeface="Cambria"/>
                <a:ea typeface="Cambria"/>
              </a:rPr>
              <a:t>Do modelo de Huff ao despacho real do SAMU — com dado do SUS e uma cidade simulada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67000" y="37490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Realocação de USB e USA em São Paulo · passo a passo, sem pressupor as fórmulas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67000" y="6035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EB2"/>
                </a:solidFill>
                <a:effectLst/>
                <a:uFillTx/>
                <a:latin typeface="Calibri"/>
                <a:ea typeface="Calibri"/>
              </a:rPr>
              <a:t>Grupo MAI5003 · outubro de 2026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ROTEIRO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roteiro em oito passos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567000" y="16002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567000" y="16002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134000" y="15818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Onde estávamos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134000" y="185616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que a fase 2 entregou e a pergunta que ficou aberta: quanto vale β?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567000" y="265176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67000" y="2651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134000" y="2633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que o Huff supõe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134000" y="290772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 modelo de escolha de consumidor — e por que ele erra para ambulância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567000" y="370332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67000" y="3703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134000" y="3684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Como o SAMU decide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134000" y="395928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regra do regulador vira uma fórmula com um parâmetro só, q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567000" y="475488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567000" y="4754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134000" y="473652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Medir q no dado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1134000" y="501084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31 meses de produção do SAMU-SP no SIA/SUS, 111 arquivos do DATASUS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6236280" y="160020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6236280" y="16002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6803280" y="15818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Responder sobre β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6803280" y="185616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ponte entre os dois modelos: o β = 4,5 escolhido cabe no dado?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6236280" y="265176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6236280" y="2651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6803280" y="2633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Uma métrica nova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6803280" y="290772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chance de a USA chegar a tempo, 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olhando os 10% mais mal servidos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6236280" y="37033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6236280" y="3703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6803280" y="3684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Otimizar de novo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0"/>
          <p:cNvSpPr/>
          <p:nvPr/>
        </p:nvSpPr>
        <p:spPr>
          <a:xfrm>
            <a:off x="6803280" y="395928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29 rodadas do otimizador, com e sem uma regra de cobertura mínima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1"/>
          <p:cNvSpPr/>
          <p:nvPr/>
        </p:nvSpPr>
        <p:spPr>
          <a:xfrm>
            <a:off x="6236280" y="475488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2"/>
          <p:cNvSpPr/>
          <p:nvPr/>
        </p:nvSpPr>
        <p:spPr>
          <a:xfrm>
            <a:off x="6236280" y="4754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3"/>
          <p:cNvSpPr/>
          <p:nvPr/>
        </p:nvSpPr>
        <p:spPr>
          <a:xfrm>
            <a:off x="6803280" y="473652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Conferir por simulação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4"/>
          <p:cNvSpPr/>
          <p:nvPr/>
        </p:nvSpPr>
        <p:spPr>
          <a:xfrm>
            <a:off x="6803280" y="5010840"/>
            <a:ext cx="4827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cidade simulada chamado a chamado, um ano inteiro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5"/>
          <p:cNvSpPr/>
          <p:nvPr/>
        </p:nvSpPr>
        <p:spPr>
          <a:xfrm>
            <a:off x="567000" y="5897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Cada resultado sai de um arquivo do projeto; cada dado externo traz o link da fonte no rodapé do slide.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VISÃO GERAL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pipeline completo: dos dados à simulação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567000" y="1371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1 · DADOS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2853000" y="1371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2 · PREPARO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5139000" y="1371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3 · QUEM ATENDE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7425000" y="1371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4 · OBJETIVOS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9711000" y="1371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5 · OTIMIZAÇÃO E TESTE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567000" y="1737360"/>
            <a:ext cx="1919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76800" y="182880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IBGE · Censo 2022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676800" y="212148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população de cada setor censitário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567000" y="2788920"/>
            <a:ext cx="1919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676800" y="288036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CNES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76800" y="317304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locais candidatos e a frota de hoje: 107 USB, 16 USA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567000" y="3840480"/>
            <a:ext cx="1919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676800" y="393192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OpenStreetMap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676800" y="422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ruas e velocidades da cidade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567000" y="4892040"/>
            <a:ext cx="19198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676800" y="498348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SIA/SUS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676800" y="527616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saídas do SAMU por mês, faturadas no SUS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2853000" y="1737360"/>
            <a:ext cx="1919880" cy="301716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2962800" y="182880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Matriz de tempos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2962800" y="2121480"/>
            <a:ext cx="17002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minutos de carro de cada local a cada setor: caminho mais curto na malha de ruas (algoritmo de Dijkstra).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monta.py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2853000" y="4892040"/>
            <a:ext cx="1919880" cy="9140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2962800" y="498348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Ocupação q e θ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2962800" y="527616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lei de Little (demanda_samu.py)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6"/>
          <p:cNvSpPr/>
          <p:nvPr/>
        </p:nvSpPr>
        <p:spPr>
          <a:xfrm>
            <a:off x="5139000" y="1737360"/>
            <a:ext cx="1919880" cy="1782720"/>
          </a:xfrm>
          <a:prstGeom prst="roundRect">
            <a:avLst>
              <a:gd name="adj" fmla="val 5128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5248800" y="182880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P(j | i)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5248800" y="2121480"/>
            <a:ext cx="1700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chance de a base j atender o setor i.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Fase 2: Huff (β).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Fase 2b: despacho (q).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5139000" y="3886200"/>
            <a:ext cx="1919880" cy="1919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5248800" y="397764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Acessibilidade 2SFCA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5248800" y="427032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oferta de cada base ÷ demanda que ela recebe, somada por setor.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huff2sfca.py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2"/>
          <p:cNvSpPr/>
          <p:nvPr/>
        </p:nvSpPr>
        <p:spPr>
          <a:xfrm>
            <a:off x="7425000" y="1737360"/>
            <a:ext cx="1919880" cy="1782720"/>
          </a:xfrm>
          <a:prstGeom prst="roundRect">
            <a:avLst>
              <a:gd name="adj" fmla="val 5128"/>
            </a:avLst>
          </a:prstGeom>
          <a:solidFill>
            <a:srgbClr val="E7F0F7"/>
          </a:solidFill>
          <a:ln w="12700">
            <a:solidFill>
              <a:srgbClr val="E7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3"/>
          <p:cNvSpPr/>
          <p:nvPr/>
        </p:nvSpPr>
        <p:spPr>
          <a:xfrm>
            <a:off x="7534800" y="182880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Objetivo 1 · tempo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4"/>
          <p:cNvSpPr/>
          <p:nvPr/>
        </p:nvSpPr>
        <p:spPr>
          <a:xfrm>
            <a:off x="7534800" y="2121480"/>
            <a:ext cx="1700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tempo esperado até a ambulância chegar, + λ × km de mudança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7425000" y="3886200"/>
            <a:ext cx="1919880" cy="1919880"/>
          </a:xfrm>
          <a:prstGeom prst="roundRect">
            <a:avLst>
              <a:gd name="adj" fmla="val 4762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6"/>
          <p:cNvSpPr/>
          <p:nvPr/>
        </p:nvSpPr>
        <p:spPr>
          <a:xfrm>
            <a:off x="7534800" y="397764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Objetivo 2 · equidade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7"/>
          <p:cNvSpPr/>
          <p:nvPr/>
        </p:nvSpPr>
        <p:spPr>
          <a:xfrm>
            <a:off x="7534800" y="427032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Gini da acessibilidade à USA entre os setores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8"/>
          <p:cNvSpPr/>
          <p:nvPr/>
        </p:nvSpPr>
        <p:spPr>
          <a:xfrm>
            <a:off x="9711000" y="1737360"/>
            <a:ext cx="1919880" cy="1782720"/>
          </a:xfrm>
          <a:prstGeom prst="roundRect">
            <a:avLst>
              <a:gd name="adj" fmla="val 5128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9820800" y="182880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NSGA-II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0"/>
          <p:cNvSpPr/>
          <p:nvPr/>
        </p:nvSpPr>
        <p:spPr>
          <a:xfrm>
            <a:off x="9820800" y="2121480"/>
            <a:ext cx="1700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busca a fronteira tempo × Gini; parte da rede de hoje e do p-median. Escolhe o joelho.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otimiza.py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1"/>
          <p:cNvSpPr/>
          <p:nvPr/>
        </p:nvSpPr>
        <p:spPr>
          <a:xfrm>
            <a:off x="9711000" y="3886200"/>
            <a:ext cx="1919880" cy="1919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2"/>
          <p:cNvSpPr/>
          <p:nvPr/>
        </p:nvSpPr>
        <p:spPr>
          <a:xfrm>
            <a:off x="9820800" y="3977640"/>
            <a:ext cx="170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Simulação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3"/>
          <p:cNvSpPr/>
          <p:nvPr/>
        </p:nvSpPr>
        <p:spPr>
          <a:xfrm>
            <a:off x="9820800" y="4270320"/>
            <a:ext cx="170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 ano de chamados ao acaso, regulador com a regra real: confere o modelo.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simula.py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4"/>
          <p:cNvSpPr/>
          <p:nvPr/>
        </p:nvSpPr>
        <p:spPr>
          <a:xfrm>
            <a:off x="2486880" y="219456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5"/>
          <p:cNvSpPr/>
          <p:nvPr/>
        </p:nvSpPr>
        <p:spPr>
          <a:xfrm>
            <a:off x="2486880" y="324612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6"/>
          <p:cNvSpPr/>
          <p:nvPr/>
        </p:nvSpPr>
        <p:spPr>
          <a:xfrm>
            <a:off x="2486880" y="429768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7"/>
          <p:cNvSpPr/>
          <p:nvPr/>
        </p:nvSpPr>
        <p:spPr>
          <a:xfrm>
            <a:off x="2486880" y="534924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8"/>
          <p:cNvSpPr/>
          <p:nvPr/>
        </p:nvSpPr>
        <p:spPr>
          <a:xfrm>
            <a:off x="4772880" y="265176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9"/>
          <p:cNvSpPr/>
          <p:nvPr/>
        </p:nvSpPr>
        <p:spPr>
          <a:xfrm flipV="1">
            <a:off x="4772880" y="3291840"/>
            <a:ext cx="365760" cy="205740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0"/>
          <p:cNvSpPr/>
          <p:nvPr/>
        </p:nvSpPr>
        <p:spPr>
          <a:xfrm>
            <a:off x="6098760" y="3547800"/>
            <a:ext cx="360" cy="31068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1"/>
          <p:cNvSpPr/>
          <p:nvPr/>
        </p:nvSpPr>
        <p:spPr>
          <a:xfrm>
            <a:off x="7058880" y="265176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2"/>
          <p:cNvSpPr/>
          <p:nvPr/>
        </p:nvSpPr>
        <p:spPr>
          <a:xfrm>
            <a:off x="7058880" y="484632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3"/>
          <p:cNvSpPr/>
          <p:nvPr/>
        </p:nvSpPr>
        <p:spPr>
          <a:xfrm>
            <a:off x="9344880" y="2651760"/>
            <a:ext cx="36576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4"/>
          <p:cNvSpPr/>
          <p:nvPr/>
        </p:nvSpPr>
        <p:spPr>
          <a:xfrm flipV="1">
            <a:off x="9344880" y="3017520"/>
            <a:ext cx="365760" cy="182880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5"/>
          <p:cNvSpPr/>
          <p:nvPr/>
        </p:nvSpPr>
        <p:spPr>
          <a:xfrm>
            <a:off x="10670760" y="3547800"/>
            <a:ext cx="360" cy="31068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6"/>
          <p:cNvSpPr/>
          <p:nvPr/>
        </p:nvSpPr>
        <p:spPr>
          <a:xfrm>
            <a:off x="567000" y="59436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Da fase 2 para a 2b só muda a peça 3 — quem atende cada setor. Dados, objetivos e otimizador são os mesmos.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IBGE · Censo 2022, setores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CNES/DATASUS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OpenStreetMap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5"/>
              </a:rPr>
              <a:t>Huff (1964)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6"/>
              </a:rPr>
              <a:t>Daskin (1983)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7"/>
              </a:rPr>
              <a:t>Luo &amp; Wang (2003)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8"/>
              </a:rPr>
              <a:t>Deb et al. (2002), NSGA-II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Ponto de partida: o que a fase 2 entregou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67000" y="1508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problema: 123 ambulâncias do SAMU em São Paulo (107 USB, básicas, e 16 USA, avançadas, com médico). Onde colocá-las para que (1) cheguem rápido e (2) a oferta seja distribuída com justiça entre os bairros?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567000" y="2423160"/>
            <a:ext cx="5394600" cy="1325520"/>
          </a:xfrm>
          <a:prstGeom prst="roundRect">
            <a:avLst>
              <a:gd name="adj" fmla="val 6897"/>
            </a:avLst>
          </a:prstGeom>
          <a:solidFill>
            <a:srgbClr val="E7F0F7"/>
          </a:solidFill>
          <a:ln w="12700">
            <a:solidFill>
              <a:srgbClr val="E7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841320" y="257868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</a:rPr>
              <a:t>Objetivo 1 — tempo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841320" y="292608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Tempo médio esperado até a ambulância chegar, ponderado pela população de cada setor censitário (26.889 setores).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6236280" y="2423160"/>
            <a:ext cx="5394600" cy="1325520"/>
          </a:xfrm>
          <a:prstGeom prst="roundRect">
            <a:avLst>
              <a:gd name="adj" fmla="val 6897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6510600" y="257868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Objetivo 2 — equidade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6510600" y="292608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Gini da “quantidade de USA por habitante” que cada setor enxerga: 0 = todos iguais, 1 = tudo num lugar só.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67000" y="40233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Resultado da fase 2: mover só 10 das 123 unidades (48 km no total) derrubava o Gini da USA de 0,224 para 0,057.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567000" y="4709160"/>
            <a:ext cx="11063880" cy="1005480"/>
          </a:xfrm>
          <a:prstGeom prst="roundRect">
            <a:avLst>
              <a:gd name="adj" fmla="val 9091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841320" y="48463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pergunta que ficou aberta: tudo isso dependia de um parâmetro, β, que foi escolhido por argumento (4,5 minutos), não medido. Quais valores β pode ter? E qual é o certo?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CNES/DATASUS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IBGE · Censo 2022, setores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sp_resultado.json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que o modelo de Huff supõe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567000" y="1508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Huff vem do varejo (1964): explica em qual loja o consumidor compra. Cada base recebe um “peso” que cai com a distância, e a chance de cada base atender é o peso dela dividido pela soma dos pesos.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C:\Users\lucas\Documents\MECAI\Estatistica\samu-usb-usa\figs\fase2\formulas\huff_principal.png"/>
          <p:cNvPicPr/>
          <p:nvPr/>
        </p:nvPicPr>
        <p:blipFill>
          <a:blip r:embed="rId1"/>
          <a:stretch/>
        </p:blipFill>
        <p:spPr>
          <a:xfrm>
            <a:off x="841320" y="2468880"/>
            <a:ext cx="288900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Image 1" descr="C:\Users\lucas\Documents\MECAI\Estatistica\samu-usb-usa\figs\fase2\formulas\huff_decaimento.png"/>
          <p:cNvPicPr/>
          <p:nvPr/>
        </p:nvPicPr>
        <p:blipFill>
          <a:blip r:embed="rId2"/>
          <a:stretch/>
        </p:blipFill>
        <p:spPr>
          <a:xfrm>
            <a:off x="841320" y="3931920"/>
            <a:ext cx="22809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hape 4"/>
          <p:cNvSpPr/>
          <p:nvPr/>
        </p:nvSpPr>
        <p:spPr>
          <a:xfrm>
            <a:off x="6035040" y="2423160"/>
            <a:ext cx="5577480" cy="2194200"/>
          </a:xfrm>
          <a:prstGeom prst="roundRect">
            <a:avLst>
              <a:gd name="adj" fmla="val 4167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6309360" y="25603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Lendo a fórmula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309360" y="2880360"/>
            <a:ext cx="51202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P(j | i): chance de a base j atender o setor i.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S_j: quantas ambulâncias a base j tem.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t_ij: minutos de carro do setor até a base.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f(t): o peso, que cai com o tempo; β diz quão rápido cai.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α: quanto uma base com mais viaturas atrai a mais (aqui, α = 1).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67000" y="48463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β pequeno: só a base mais próxima conta. β grande: todas as bases a menos de 30 min contam quase igual. Qualquer β &gt; 0 é matematicamente válido — o modelo não diz qual escolher.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67000" y="5897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 Huff descreve alguém que escolhe. No SAMU, ninguém escolhe: há uma regra.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Huff (1964)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Onde o Huff erra com ambulâncias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67000" y="1508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 β = 4,5, a chance de a segunda base mais próxima atender: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" name="Table 0"/>
          <p:cNvGraphicFramePr/>
          <p:nvPr/>
        </p:nvGraphicFramePr>
        <p:xfrm>
          <a:off x="567000" y="1965960"/>
          <a:ext cx="7314840" cy="123444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10312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setor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1ª e 2ª base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2ª base atende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perto de uma base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 e 3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longe das bases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 e 12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 4"/>
          <p:cNvSpPr/>
          <p:nvPr/>
        </p:nvSpPr>
        <p:spPr>
          <a:xfrm>
            <a:off x="567000" y="33375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Huff, quem mora colado na base vê a segunda base atender quase metade das vezes; quem mora longe, só um quarto. A diferença é a mesma (2 minutos), mas a curva gaussiana trata as duas situações de forma oposta.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567000" y="4297680"/>
            <a:ext cx="11063880" cy="1234080"/>
          </a:xfrm>
          <a:prstGeom prst="roundRect">
            <a:avLst>
              <a:gd name="adj" fmla="val 7407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841320" y="44348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Na vida real, a segunda base atende quando a primeira está ocupada — e isso depende de quanto trabalho a primeira tem, não de quão perto você mora dela. A distância deveria decidir a ORDEM das bases, não o peso.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567000" y="5897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Consequência: o Huff exagera o tempo perto das bases e esconde o tempo da periferia.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Como o SAMU realmente decide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567000" y="1508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médico regulador recebe o chamado e manda a ambulância DISPONÍVEL mais próxima. A única coisa incerta é quem está ocupado naquele momento.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567000" y="2377440"/>
            <a:ext cx="255996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749880" y="2514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1ª mais próxima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749880" y="28803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ocupada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3401640" y="2377440"/>
            <a:ext cx="255996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3584520" y="2514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2ª mais próxima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3584520" y="28803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ocupada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6236280" y="2377440"/>
            <a:ext cx="255996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6419160" y="2514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3ª mais próxima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6419160" y="28803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LIVRE → vai ela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9070920" y="2377440"/>
            <a:ext cx="255996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9253800" y="2514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4ª mais próxima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9253800" y="28803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nem é consultada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567000" y="38404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Se cada ambulância está ocupada uma fração q do tempo, independente das outras, a chance de a k-ésima mais próxima atender é: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0" descr="C:\Users\lucas\Documents\MECAI\Estatistica\samu-usb-usa\figs\fase2\formulas\desp_geom.png"/>
          <p:cNvPicPr/>
          <p:nvPr/>
        </p:nvPicPr>
        <p:blipFill>
          <a:blip r:embed="rId1"/>
          <a:stretch/>
        </p:blipFill>
        <p:spPr>
          <a:xfrm>
            <a:off x="841320" y="4526280"/>
            <a:ext cx="32184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17"/>
          <p:cNvSpPr/>
          <p:nvPr/>
        </p:nvSpPr>
        <p:spPr>
          <a:xfrm>
            <a:off x="5596200" y="452628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 elevado a (k−1): as k−1 mais próximas estão todas ocupadas.  (1−q): a k-ésima está livre.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567000" y="53492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Esse é o “modelo de despacho” (Daskin 1983; ReVelle &amp; Hogan 1989). Ele tem um parâmetro só, q — e q pode ser medido.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Daskin (1983)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ReVelle &amp; Hogan (1989)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Um exemplo com duas bases: Huff × despacho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567000" y="1508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 setor, duas bases com uma ambulância cada: A a 5 min, B a 10 min. No despacho, q = 0,27.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1" name="Table 0"/>
          <p:cNvGraphicFramePr/>
          <p:nvPr/>
        </p:nvGraphicFramePr>
        <p:xfrm>
          <a:off x="567000" y="2011680"/>
          <a:ext cx="11063880" cy="123444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2377440"/>
                <a:gridCol w="256032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/>
                      <a:endParaRPr lang="en-US" sz="13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atende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 atende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esperado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Huff (β = 4,5)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86%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14%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5,68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Despacho (q = 0,27)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5,99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Shape 4"/>
          <p:cNvSpPr/>
          <p:nvPr/>
        </p:nvSpPr>
        <p:spPr>
          <a:xfrm>
            <a:off x="567000" y="3429000"/>
            <a:ext cx="11063880" cy="1737000"/>
          </a:xfrm>
          <a:prstGeom prst="roundRect">
            <a:avLst>
              <a:gd name="adj" fmla="val 5263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841320" y="356616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conta do despacho, à mão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841320" y="391356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 atende quando A está ocupada e B livre: q × (1 − q) = 0,27 × 0,73 = 0,197.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atende quando está livre (0,73) — e também quando as duas estão ocupadas e o chamado espera por ela (0,27² = 0,073).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Total de A: 0,73 + 0,073 = 0,803. As duas chances somam 1.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567000" y="53492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0F3D5C"/>
                </a:solidFill>
                <a:effectLst/>
                <a:uFillTx/>
                <a:latin typeface="Calibri"/>
                <a:ea typeface="Calibri"/>
              </a:rPr>
              <a:t>Com uma base por local e muitas bases, a chance da k-ésima é a distribuição geométrica — a mesma do “número de tentativas até o primeiro sucesso”.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Na periferia, os dois modelos divergem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56700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Tempo esperado (média das distâncias, pesadas pela chance de cada base atender):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C:\Users\lucas\Documents\MECAI\Estatistica\samu-usb-usa\figs\fase2\formulas\et_def.png"/>
          <p:cNvPicPr/>
          <p:nvPr/>
        </p:nvPicPr>
        <p:blipFill>
          <a:blip r:embed="rId1"/>
          <a:stretch/>
        </p:blipFill>
        <p:spPr>
          <a:xfrm>
            <a:off x="8138160" y="1417320"/>
            <a:ext cx="2137680" cy="5482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1" name="Table 0"/>
          <p:cNvGraphicFramePr/>
          <p:nvPr/>
        </p:nvGraphicFramePr>
        <p:xfrm>
          <a:off x="567000" y="2194560"/>
          <a:ext cx="11063880" cy="123444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setor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USAs a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Huff (β = 4,5)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Despacho (q = 0,27)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central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 e 4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2,85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2,39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periférico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10, 22 e 25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10,00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13,16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182" name="Text 4"/>
          <p:cNvSpPr/>
          <p:nvPr/>
        </p:nvSpPr>
        <p:spPr>
          <a:xfrm>
            <a:off x="567000" y="3566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setor periférico o Huff dá à USA de 22 min uma chance de 0,008% — praticamente nunca. No despacho ela vem toda vez que a de 10 min está ocupada: 20% das vezes.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567000" y="4526280"/>
            <a:ext cx="11063880" cy="1096920"/>
          </a:xfrm>
          <a:prstGeom prst="roundRect">
            <a:avLst>
              <a:gd name="adj" fmla="val 8333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841320" y="46634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Huff faz a periferia parecer mais bem servida do que é — justamente onde o projeto quer medir desigualdade. A intuição de que a distância importa está certa — mas ela entra como custo de cada atendimento, não como probabilidade de ser chamado.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parâmetro do despacho: a ocupação q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67000" y="15087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 é a fração do tempo em que uma ambulância está fora da base, atendendo. Se sabemos quantas saídas há por hora e quanto tempo cada saída prende a viatura: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C:\Users\lucas\Documents\MECAI\Estatistica\samu-usb-usa\figs\fase2\formulas\q_def.png"/>
          <p:cNvPicPr/>
          <p:nvPr/>
        </p:nvPicPr>
        <p:blipFill>
          <a:blip r:embed="rId1"/>
          <a:stretch/>
        </p:blipFill>
        <p:spPr>
          <a:xfrm>
            <a:off x="841320" y="2331720"/>
            <a:ext cx="203652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4"/>
          <p:cNvSpPr/>
          <p:nvPr/>
        </p:nvSpPr>
        <p:spPr>
          <a:xfrm>
            <a:off x="3310200" y="237744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 = saídas por hora (do dado)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s̄ = horas que cada saída ocupa a viatura (hipótese)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 = número de unidades (107 USB, 16 USA)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567000" y="3703320"/>
            <a:ext cx="11063880" cy="1325520"/>
          </a:xfrm>
          <a:prstGeom prst="roundRect">
            <a:avLst>
              <a:gd name="adj" fmla="val 6897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841320" y="3840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Exemplo, USA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841320" y="4187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25.217 saídas em 12 meses ÷ 8.760 h = 2,88 por hora.  × 70 min (1,17 h) = 3,36 viaturas ocupadas em média.  ÷ 16 USAs = q ≈ 0,21.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567000" y="53035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Isso é a lei de Little das filas: carga média = taxa de chegada × tempo de serviço.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CNES/DATASUS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Onde medir q: a produção do SAMU no SIA/SUS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567000" y="1508760"/>
            <a:ext cx="55774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SIA, sistema de produção ambulatorial do SUS, recebe todo mês os procedimentos que cada serviço registra, cada um com um código da tabela SIGTAP. O SAMU tem códigos próprios — inclusive “envio de USA” e “envio de USB”: é exatamente a contagem de saídas que q precisa.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567000" y="2926080"/>
            <a:ext cx="5577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que fizemos: baixamos do DATASUS os 111 arquivos de São Paulo (jan/2024 a jul/2026, ~11 GB), filtramos só as linhas do SAMU na capital (81.921 linhas) e apagamos o resto.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C:\Users\lucas\Documents\MECAI\Estatistica\samu-usb-usa\figs\fase2\sp_06_producao_samu.png"/>
          <p:cNvPicPr/>
          <p:nvPr/>
        </p:nvPicPr>
        <p:blipFill>
          <a:blip r:embed="rId1"/>
          <a:stretch/>
        </p:blipFill>
        <p:spPr>
          <a:xfrm>
            <a:off x="6355080" y="1463040"/>
            <a:ext cx="5303160" cy="304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5"/>
          <p:cNvSpPr/>
          <p:nvPr/>
        </p:nvSpPr>
        <p:spPr>
          <a:xfrm>
            <a:off x="6355080" y="46177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Saídas por mês. A faixa cinza são meses que ainda podem receber registros atrasados.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567000" y="53949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Janela usada: 2025-05 a 2026-04, os últimos 12 meses fechados.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DATASUS · arquivos PASP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SIGTAP · Tabela Unificada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que é o SIA e o que conta como “faturado”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567000" y="16002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567000" y="16002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134000" y="1581840"/>
            <a:ext cx="6107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SIA = Sistema de Informações Ambulatoriais do SUS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134000" y="1856160"/>
            <a:ext cx="6107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Mantido pelo DATASUS. Cada serviço informa, mês a mês, os procedimentos que fez, no Boletim de Produção Ambulatorial (BPA). Nasceu para pagar procedimentos; hoje é a maior base pública da produção do SUS.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567000" y="288036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567000" y="2880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1134000" y="2862000"/>
            <a:ext cx="6107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Atendimento faturado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1134000" y="3136320"/>
            <a:ext cx="610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Saída que entrou no SIA: a equipe registrou o procedimento e o sistema aprovou. É o que dá para contar.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567000" y="384048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567000" y="3840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1134000" y="3822120"/>
            <a:ext cx="6107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Atendimento não faturado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1134000" y="4096440"/>
            <a:ext cx="6107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Saída que aconteceu, mas não foi registrada. No SAMU, o repasse federal é fixo por unidade habilitada e só para se a produção ficar zerada ou sem informar por 3 meses (Malvestio &amp; Sousa, 2024): registrar cada saída não traz dinheiro a mais, e parte delas fica de fora.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7726680" y="1600200"/>
            <a:ext cx="3904200" cy="3382920"/>
          </a:xfrm>
          <a:prstGeom prst="roundRect">
            <a:avLst>
              <a:gd name="adj" fmla="val 2703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7955280" y="17373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2025, cidade de São Paulo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7955280" y="210312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355.806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7955280" y="254196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atendimentos presenciais divulgados pela Prefeitura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7955280" y="30632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A78D6"/>
                </a:solidFill>
                <a:effectLst/>
                <a:uFillTx/>
                <a:latin typeface="Cambria"/>
                <a:ea typeface="Cambria"/>
              </a:rPr>
              <a:t>329.101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7955280" y="35020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atendimentos de USB e USA faturados no SIA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7955280" y="42062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92% faturado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567000" y="53492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Consequência: o SIA conta um pouco menos saídas do que houve. Se a falta for parecida em todos os meses, o q estimado fica ~8% abaixo do real.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Malvestio &amp; Sousa (2024)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Prefeitura de SP, dado de 2025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Conferindo o dado do SIA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567000" y="146304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567000" y="1463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1134000" y="144468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total anual bate com a Prefeitura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1134000" y="1719000"/>
            <a:ext cx="1049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Faturados no SIA: 292.007 em 2024 e 329.101 em 2025. A Prefeitura divulga 314.089 e 355.806 atendimentos presenciais: o SIA cobre ~92%.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567000" y="235908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567000" y="2359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134000" y="234072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 número da Prefeitura não bate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1134000" y="2615040"/>
            <a:ext cx="1049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Em dez/2023 a Prefeitura falou em ~350 saídas de ambulância por dia. O SIA de 2024 dá ~747 envios por dia, e o próprio total anual da Prefeitura dá ~858 por dia. Não sabemos explicar a diferença.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567000" y="325512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567000" y="3255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1134000" y="323712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frota confere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1134000" y="3511440"/>
            <a:ext cx="1049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CNES lista 123 ambulâncias (107 USB e 16 USA) em 92 locais; a Prefeitura falava em 120 ambulâncias e 86 bases em dez/2023.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567000" y="41515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567000" y="41515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1134000" y="413316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 erro de lançamento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1134000" y="4407480"/>
            <a:ext cx="1049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Em 2024-02, 216.626 envios de USB contra 19.356 atendimentos — 10 vezes o normal. Regra: envio maior que 3× o atendimento do mês é erro; trocamos pelo atendimento e registramos.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567000" y="504756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567000" y="50475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1134000" y="502920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que o dado não tem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1134000" y="5303520"/>
            <a:ext cx="10496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Quanto tempo cada saída dura (por isso testamos 45, 70 e 100 min) e qual base fez cada saída: o faturamento cai em 227 estabelecimentos e só 34% nas bases atuais. Logo, um q para a cidade, não um por base.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3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Prefeitura de SP, dado de 2024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Prefeitura de SP, dado de 2025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Prefeitura de SP, dez/2023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CNES/DATASUS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5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sp_utilizacao.json, sp_comparacao.json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A ocupação medida: q das USB e das USA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6" name="Table 0"/>
          <p:cNvGraphicFramePr/>
          <p:nvPr/>
        </p:nvGraphicFramePr>
        <p:xfrm>
          <a:off x="567000" y="1554480"/>
          <a:ext cx="7497720" cy="164592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19456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por saída (hipótese)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 das USB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 das USA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0,22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0,13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70 min (central)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0,35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0,21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0,50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0,30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257" name="Shape 3"/>
          <p:cNvSpPr/>
          <p:nvPr/>
        </p:nvSpPr>
        <p:spPr>
          <a:xfrm>
            <a:off x="8366760" y="1554480"/>
            <a:ext cx="3245760" cy="1645560"/>
          </a:xfrm>
          <a:prstGeom prst="roundRect">
            <a:avLst>
              <a:gd name="adj" fmla="val 5556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8595360" y="169164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θ = fração de saídas que é de USA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8595360" y="22402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0,082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8595360" y="27889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fase 2 supunha 0,10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567000" y="361188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567000" y="361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1134000" y="359352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Uma USA é menos ocupada que uma USB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1134000" y="3867840"/>
            <a:ext cx="10496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Cada USA faz em média 4,3 saídas por dia; cada USB, 7,2. O regulador preserva a USA para os casos graves.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567000" y="51206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Agora q é medido — a menos do tempo por saída, que ainda é hipótese (próximo slide).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Quanto tempo uma saída prende a ambulância?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67000" y="14630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tempo por saída vai da saída da base até a viatura estar livre de novo. O SIA não o registra, e não achamos medida publicada para São Paulo. Uma saída típica soma cinco partes: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567000" y="2194560"/>
            <a:ext cx="20570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567000" y="21945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ir até o local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2807280" y="2194560"/>
            <a:ext cx="20570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2807280" y="21945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atender na cena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8"/>
          <p:cNvSpPr/>
          <p:nvPr/>
        </p:nvSpPr>
        <p:spPr>
          <a:xfrm>
            <a:off x="5047560" y="2194560"/>
            <a:ext cx="20570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5047560" y="21945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levar ao hospital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0"/>
          <p:cNvSpPr/>
          <p:nvPr/>
        </p:nvSpPr>
        <p:spPr>
          <a:xfrm>
            <a:off x="7287840" y="2194560"/>
            <a:ext cx="2057040" cy="548280"/>
          </a:xfrm>
          <a:prstGeom prst="roundRect">
            <a:avLst>
              <a:gd name="adj" fmla="val 16667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7287840" y="21945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entregar o paciente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2"/>
          <p:cNvSpPr/>
          <p:nvPr/>
        </p:nvSpPr>
        <p:spPr>
          <a:xfrm>
            <a:off x="9528120" y="2194560"/>
            <a:ext cx="20570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9528120" y="219456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voltar à base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Table 0"/>
          <p:cNvGraphicFramePr/>
          <p:nvPr/>
        </p:nvGraphicFramePr>
        <p:xfrm>
          <a:off x="567000" y="2971800"/>
          <a:ext cx="11063880" cy="1919880"/>
        </p:xfrm>
        <a:graphic>
          <a:graphicData uri="http://schemas.openxmlformats.org/drawingml/2006/table">
            <a:tbl>
              <a:tblPr/>
              <a:tblGrid>
                <a:gridCol w="3017520"/>
                <a:gridCol w="4846320"/>
                <a:gridCol w="32004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fonte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mede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valor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Prefeitura de SP (dez/2023)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chegada ao local, casos mais graves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média de 20 min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Hora et al. (2019), Salvador, 465 ocorrências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duração total, da abertura ao fim da ocorrência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média de 2 h, 22 min antes de a viatura sair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Feldmeier et al. (2024), Califórnia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só a entrega do paciente no hospital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média de 42,8 min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este projeto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por saída (hipótese)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 · 70 · 100 min</a:t>
                      </a:r>
                      <a:endParaRPr lang="pt-BR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282" name="Text 14"/>
          <p:cNvSpPr/>
          <p:nvPr/>
        </p:nvSpPr>
        <p:spPr>
          <a:xfrm>
            <a:off x="567000" y="50749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Salvador dá ~98 min de viatura ocupada; só a entrega no hospital leva ~43 min. Saídas sem transporte são mais curtas. As medidas apoiam o cenário central e não descartam o alto; o baixo (45 min) é o menos sustentado.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5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Prefeitura de SP, dez/2023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Hora et al. (2019)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Feldmeier et al. (2024)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5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β = 4,5 da fase 2 é compatível com o dado?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67000" y="15087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Os dois modelos podem ser comparados por uma régua comum: o número efetivo de ambulâncias que “dividem” o atendimento de um setor. Para cada β existe um q que dá o mesmo número.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8" name="Table 0"/>
          <p:cNvGraphicFramePr/>
          <p:nvPr/>
        </p:nvGraphicFramePr>
        <p:xfrm>
          <a:off x="567000" y="2377440"/>
          <a:ext cx="11063880" cy="123444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737360"/>
                <a:gridCol w="1737360"/>
                <a:gridCol w="173736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β (min)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1,5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3,0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6,0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8,5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unidades efetivas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1,3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2,2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3,7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6,7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 equivalente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0,47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0,66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Shape 4"/>
          <p:cNvSpPr/>
          <p:nvPr/>
        </p:nvSpPr>
        <p:spPr>
          <a:xfrm>
            <a:off x="567000" y="3840480"/>
            <a:ext cx="11063880" cy="1325520"/>
          </a:xfrm>
          <a:prstGeom prst="roundRect">
            <a:avLst>
              <a:gd name="adj" fmla="val 6897"/>
            </a:avLst>
          </a:prstGeom>
          <a:solidFill>
            <a:srgbClr val="E5F2EA"/>
          </a:solidFill>
          <a:ln w="12700">
            <a:solidFill>
              <a:srgbClr val="E5F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841320" y="39776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O q das USA medido no SIA corresponde a β entre 3,5 e 4,7 (central 3,9).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841320" y="44348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β = 4,5 escolhido na fase 2 está dentro da faixa que o dado sustenta. β = 8,5 corresponde a q ≈ 0,66: em média, duas em cada três USAs ocupadas a qualquer momento. Com as saídas registradas no SIA, isso exigiria ~3,7 h por saída — muito acima do que as fontes indicam. 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7"/>
          <p:cNvSpPr/>
          <p:nvPr/>
        </p:nvSpPr>
        <p:spPr>
          <a:xfrm>
            <a:off x="567000" y="54406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Valores válidos de β: qualquer número positivo. Valores plausíveis para o SAMU-SP: ~3,5 a ~4,7.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sp_q_sens.json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5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Reprodutibilidade: a rede de hoje dá o mesmo número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567000" y="15087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Para rodar em outra máquina, a matriz de tempos de viagem (1.107 locais × 26.889 setores, por ruas reais do OpenStreetMap) foi refeita do zero, com o mapa de hoje.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8" name="Table 0"/>
          <p:cNvGraphicFramePr/>
          <p:nvPr/>
        </p:nvGraphicFramePr>
        <p:xfrm>
          <a:off x="567000" y="2377440"/>
          <a:ext cx="7772040" cy="12344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rede atual, Huff β = 4,5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publicado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refeito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esperado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7,435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7,435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Gini da USA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0,224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0,224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9" name="Text 4"/>
          <p:cNvSpPr/>
          <p:nvPr/>
        </p:nvSpPr>
        <p:spPr>
          <a:xfrm>
            <a:off x="567000" y="3794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Mesmo número até a terceira casa. O modelo novo convive com o antigo: o código continua rodando o Huff por padrão, e todos os resultados da fase 2 seguem reproduzíveis.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567000" y="5897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Só depois disso faz sentido trocar o modelo e comparar.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OpenStreetMap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IBGE · Censo 2022, setores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CNES/DATASUS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sp_q_sens.json, sp_resultado.json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6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Nova métrica: a chance de a USA chegar em até 10 min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67000" y="1508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Cada minuto conta, principalmente para a USA. Por isso medimos, para cada setor, a chance de a ambulância que vier chegar em até τ minutos: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C:\Users\lucas\Documents\MECAI\Estatistica\samu-usb-usa\figs\fase2\formulas\cob_def.png"/>
          <p:cNvPicPr/>
          <p:nvPr/>
        </p:nvPicPr>
        <p:blipFill>
          <a:blip r:embed="rId1"/>
          <a:stretch/>
        </p:blipFill>
        <p:spPr>
          <a:xfrm>
            <a:off x="841320" y="2240280"/>
            <a:ext cx="284940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4"/>
          <p:cNvSpPr/>
          <p:nvPr/>
        </p:nvSpPr>
        <p:spPr>
          <a:xfrm>
            <a:off x="5139000" y="2240280"/>
            <a:ext cx="6491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1[...] vale 1 se a base está a até τ minutos e 0 se não. A soma junta as chances das bases que chegam a tempo.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8" name="Table 0"/>
          <p:cNvGraphicFramePr/>
          <p:nvPr/>
        </p:nvGraphicFramePr>
        <p:xfrm>
          <a:off x="567000" y="3108960"/>
          <a:ext cx="11063880" cy="164592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194560"/>
                <a:gridCol w="292608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configuração (despacho, q do SIA)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Gini USA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pior 10%: USA ≤ 10 min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rede de hoje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5,67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0,206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p-median (clássico)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4,56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0,094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35%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solução “equânime” da fase 2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4,78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0,054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309" name="Text 5"/>
          <p:cNvSpPr/>
          <p:nvPr/>
        </p:nvSpPr>
        <p:spPr>
          <a:xfrm>
            <a:off x="567000" y="48920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“Pior 10%”: ordenamos os setores pela chance de chegar a tempo e olhamos os 10% da população com menor chance.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567000" y="53949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solução que iguala as USAs por habitante deixa os 10% mais mal servidos sem chance real de USA em 10 minutos.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sp_q_sens.json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7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A nova rodada de otimização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567000" y="1508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otimizador (NSGA-II, um algoritmo genético) testa milhares de mapas de bases e guarda os que não podem melhorar o tempo sem piorar a equidade — a “fronteira”. De cada fronteira escolhemos o ponto de equilíbrio.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567000" y="25146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5670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1134000" y="24962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Três cenários de q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1134000" y="277056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45, 70 e 100 min por saída — porque o tempo de serviço é a hipótese que sobrou.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6236280" y="25146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623628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6803280" y="24962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Três preços de mudança (λ)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6803280" y="277056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λ = 0: redesenho livre. λ = 1: cada km deslocado custa caro, a rede quase congela.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2"/>
          <p:cNvSpPr/>
          <p:nvPr/>
        </p:nvSpPr>
        <p:spPr>
          <a:xfrm>
            <a:off x="567000" y="379476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567000" y="3794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1134000" y="3776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Repetições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1134000" y="405072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Três sementes aleatórias no cenário central, para medir o ruído do algoritmo.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6"/>
          <p:cNvSpPr/>
          <p:nvPr/>
        </p:nvSpPr>
        <p:spPr>
          <a:xfrm>
            <a:off x="6236280" y="379476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6236280" y="3794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6803280" y="3776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Com e sem restrição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9"/>
          <p:cNvSpPr/>
          <p:nvPr/>
        </p:nvSpPr>
        <p:spPr>
          <a:xfrm>
            <a:off x="6803280" y="405072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Variante que exige: pior 10% com pelo menos 25% de chance de USA em 10 min.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567000" y="51206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29 otimizações completas, 13 em paralelo no computador do grupo, em 72 minutos.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Deb et al. (2002), NSGA-II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sp_q_sweep.json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Achado 1: o ganho de equidade se mantém, mas menor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7" name="Table 0"/>
          <p:cNvGraphicFramePr/>
          <p:nvPr/>
        </p:nvGraphicFramePr>
        <p:xfrm>
          <a:off x="567000" y="1508760"/>
          <a:ext cx="11063880" cy="23040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2103120"/>
                <a:gridCol w="21945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configuração (q central)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(min)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Gini USA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unidades movidas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km deslocados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rede de hoje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5,67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0,206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p-median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0,094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120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386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redesenho livre (λ = 0)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4,59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0,049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118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346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λ = 0,1 (3 sementes)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4,60–4,63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0,042–0,047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116–118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305–316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λ = 1 (3 sementes)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5,40–5,43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0,080–0,091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17–21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40–46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338" name="Text 3"/>
          <p:cNvSpPr/>
          <p:nvPr/>
        </p:nvSpPr>
        <p:spPr>
          <a:xfrm>
            <a:off x="567000" y="38588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O p-median também é um redesenho: põe uma unidade em cada um de 123 locais (hoje são 92) e move 120 das 123. Por isso tempo e Gini mudam. Km em linha reta, entre a base antiga e a nova.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567000" y="4389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 λ = 0,1, mesmo tempo do p-median e Gini 2,1× menor (sob o Huff, 2,8×). O “pacote barato” (λ = 1) move 17–21 ambulâncias e entrega 73–80% do ganho de equidade possível.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567000" y="51663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 o Huff superestimava o tempo: a rede de hoje sai de 7,44 min (Huff) para 5,67 min (despacho).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567000" y="57150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conclusão principal da fase 2 continua de pé, com números mais modestos.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sp_q_sweep.json, sp_comparacao.json, sp_q_sens.json, sp_resultado.json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Achado 2: equidade de carga não é equidade de chegada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6" name="Table 0"/>
          <p:cNvGraphicFramePr/>
          <p:nvPr/>
        </p:nvGraphicFramePr>
        <p:xfrm>
          <a:off x="567000" y="1508760"/>
          <a:ext cx="11063880" cy="153576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2194560"/>
                <a:gridCol w="210312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λ = 0,1 (q central)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(min)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Gini USA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pior 10%: ≤ 10 min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movidas / km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 restrição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4,60–4,63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0,042–0,047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0–10%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116–118 / 305–316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 restrição de 25%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4,59–4,60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0,061–0,064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26–31%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116–119 / 312–326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p-median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4,56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0,094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35%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120 / 386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347" name="Shape 3"/>
          <p:cNvSpPr/>
          <p:nvPr/>
        </p:nvSpPr>
        <p:spPr>
          <a:xfrm>
            <a:off x="567000" y="329184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567000" y="3291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1134000" y="327348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No redesenho, a restrição sai quase de graça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1134000" y="3547800"/>
            <a:ext cx="4827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Mesmo tempo, Gini um pouco maior e ainda melhor que o p-median — e o pior decil passa a ter chance real.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6236280" y="329184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6236280" y="3291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6803280" y="327348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Mas o pacote barato deixa de existir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6803280" y="3547800"/>
            <a:ext cx="4827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 λ = 1 e a restrição, é preciso mover 88–90 unidades (173–199 km), não 17–21.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1"/>
          <p:cNvSpPr/>
          <p:nvPr/>
        </p:nvSpPr>
        <p:spPr>
          <a:xfrm>
            <a:off x="567000" y="52578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Cobrir a periferia exige redesenhar a rede, não ajustar algumas bases. É uma decisão do grupo qual equidade defender.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sp_q_sweep.json, sp_comparacao.json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8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Validação: uma cidade simulada, chamado a chamado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567000" y="1508760"/>
            <a:ext cx="5486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modelo supõe que as ocupações das ambulâncias são independentes. Para testar, simulamos São Paulo chamado a chamado, por um ano: chamados chegando ao acaso (Poisson) nas taxas do SIA, o regulador seguindo a regra real, fila quando todas estão ocupadas.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C:\Users\lucas\Documents\MECAI\Estatistica\samu-usb-usa\figs\fase2\sp_07_validacao.png"/>
          <p:cNvPicPr/>
          <p:nvPr/>
        </p:nvPicPr>
        <p:blipFill>
          <a:blip r:embed="rId1"/>
          <a:stretch/>
        </p:blipFill>
        <p:spPr>
          <a:xfrm>
            <a:off x="6263640" y="1463040"/>
            <a:ext cx="5394600" cy="24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4"/>
          <p:cNvSpPr/>
          <p:nvPr/>
        </p:nvSpPr>
        <p:spPr>
          <a:xfrm>
            <a:off x="6263640" y="3931920"/>
            <a:ext cx="5394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Cada ponto: uma configuração × um tempo de serviço (média de 3 sementes). Na diagonal, o modelo acerta.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567000" y="402336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"/>
          <p:cNvSpPr/>
          <p:nvPr/>
        </p:nvSpPr>
        <p:spPr>
          <a:xfrm>
            <a:off x="56700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1134000" y="4005000"/>
            <a:ext cx="491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Cobertura do pior decil: acerta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1134000" y="4279320"/>
            <a:ext cx="4919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Diferença de ~1 ponto (p-median: 34,5% previsto, 34,0% simulado).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567000" y="480060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0"/>
          <p:cNvSpPr/>
          <p:nvPr/>
        </p:nvSpPr>
        <p:spPr>
          <a:xfrm>
            <a:off x="567000" y="4800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1134000" y="4782240"/>
            <a:ext cx="491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Tempo do chamado grave: um pouco otimista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1134000" y="5056560"/>
            <a:ext cx="4919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modelo erra para baixo em 0,2–1,0 min — vizinhas se ocupam juntas nos picos.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>
            <a:off x="6263640" y="48006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6263640" y="4800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6830640" y="47822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ordem das configurações não muda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6830640" y="5056560"/>
            <a:ext cx="4827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Fila quase nunca acontece com a frota atual.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sp_simulacao.json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LIMITAÇÕES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Limitações: o que ainda é hipótese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567000" y="141732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567000" y="1417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1134000" y="139896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Tempo por saída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1134000" y="167328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Não está no SIA. Testamos 45, 70 e 100 min; as medidas publicadas ficam entre o central e o alto.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567000" y="224028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567000" y="2240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1134000" y="222192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 q para a cidade inteira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1134000" y="249624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faturamento não identifica a base de cada saída; bairros mais carregados não aparecem.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567000" y="306324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2"/>
          <p:cNvSpPr/>
          <p:nvPr/>
        </p:nvSpPr>
        <p:spPr>
          <a:xfrm>
            <a:off x="567000" y="30632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1134000" y="304488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Independência entre ocupações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1134000" y="331920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modelo é 0,2–1,0 min otimista no chamado grave (medido pela simulação).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5"/>
          <p:cNvSpPr/>
          <p:nvPr/>
        </p:nvSpPr>
        <p:spPr>
          <a:xfrm>
            <a:off x="567000" y="388620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6"/>
          <p:cNvSpPr/>
          <p:nvPr/>
        </p:nvSpPr>
        <p:spPr>
          <a:xfrm>
            <a:off x="567000" y="38862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1134000" y="386784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Tempos de viagem sem trânsito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8"/>
          <p:cNvSpPr/>
          <p:nvPr/>
        </p:nvSpPr>
        <p:spPr>
          <a:xfrm>
            <a:off x="1134000" y="414216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Velocidades do OpenStreetMap, sem congestionamento nem regulação: hoje o modelo dá ~10 min para a USA chegar; a Prefeitura informa ~20 min nos casos graves.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9"/>
          <p:cNvSpPr/>
          <p:nvPr/>
        </p:nvSpPr>
        <p:spPr>
          <a:xfrm>
            <a:off x="567000" y="470916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0"/>
          <p:cNvSpPr/>
          <p:nvPr/>
        </p:nvSpPr>
        <p:spPr>
          <a:xfrm>
            <a:off x="567000" y="47091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1"/>
          <p:cNvSpPr/>
          <p:nvPr/>
        </p:nvSpPr>
        <p:spPr>
          <a:xfrm>
            <a:off x="1134000" y="469080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Demanda = população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1134000" y="496512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Sem variação ao longo do dia e sem incidência real de agravos por bairro.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3"/>
          <p:cNvSpPr/>
          <p:nvPr/>
        </p:nvSpPr>
        <p:spPr>
          <a:xfrm>
            <a:off x="567000" y="5532120"/>
            <a:ext cx="420120" cy="42012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4"/>
          <p:cNvSpPr/>
          <p:nvPr/>
        </p:nvSpPr>
        <p:spPr>
          <a:xfrm>
            <a:off x="567000" y="5532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1134000" y="5513760"/>
            <a:ext cx="1049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Motolâncias fora do modelo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1134000" y="5788080"/>
            <a:ext cx="1049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produção delas passou de ~1.022 para ~7.319 por mês (2024-01 a 2026-04).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7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SIA/SUS · notas técnicas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OpenStreetMap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Prefeitura de SP, dez/2023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Hora et al. (2019)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85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5"/>
              </a:rPr>
              <a:t>Feldmeier et al. (2024)</a:t>
            </a:r>
            <a:r>
              <a:rPr lang="en-US" sz="8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sp_simulacao.json, sp_utilizacao.json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9326880" y="-2011680"/>
            <a:ext cx="5120280" cy="51202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567000" y="10058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10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 QUE LEVAR DAQUI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567000" y="146304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"/>
          <p:cNvSpPr/>
          <p:nvPr/>
        </p:nvSpPr>
        <p:spPr>
          <a:xfrm>
            <a:off x="1115640" y="146304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β não é uma escolha livre: é a ocupação das ambulâncias disfarçada. Medida no SUS, ela dá β ≈ 3,9.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567000" y="233172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6"/>
          <p:cNvSpPr/>
          <p:nvPr/>
        </p:nvSpPr>
        <p:spPr>
          <a:xfrm>
            <a:off x="1115640" y="23317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 ambulância, a distância define a ordem de quem atende; a ocupação define a chance.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567000" y="320040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8"/>
          <p:cNvSpPr/>
          <p:nvPr/>
        </p:nvSpPr>
        <p:spPr>
          <a:xfrm>
            <a:off x="1115640" y="320040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equidade da fase 2 sobrevive ao modelo novo: Gini ~2,1× menor que o clássico, no mesmo tempo.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567000" y="406908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1115640" y="40690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 igualar ambulâncias por habitante não garante que a USA chegue a tempo nos 10% mais mal servidos.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567000" y="493776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2"/>
          <p:cNvSpPr/>
          <p:nvPr/>
        </p:nvSpPr>
        <p:spPr>
          <a:xfrm>
            <a:off x="1115640" y="493776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Garantir isso é barato num redesenho e caro num ajuste: a escolha da métrica de equidade é do grupo.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FONTES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Referências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567000" y="1417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Literatura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"/>
          <p:cNvSpPr/>
          <p:nvPr/>
        </p:nvSpPr>
        <p:spPr>
          <a:xfrm>
            <a:off x="6355080" y="14173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Dados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"/>
          <p:cNvSpPr/>
          <p:nvPr/>
        </p:nvSpPr>
        <p:spPr>
          <a:xfrm>
            <a:off x="567000" y="1783080"/>
            <a:ext cx="548604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Huff, D. (1964). Defining and estimating a trading area. Journal of Marketing 28(3).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"/>
              </a:rPr>
              <a:t>doi:10.1177/002224296402800307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Larson, R. (1974). A hypercube queuing model… Computers &amp; Operations Research 1(1).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2"/>
              </a:rPr>
              <a:t>doi:10.1016/0305-0548(74)90076-8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Daskin, M. (1983). A maximum expected covering location model. Transportation Science 17(1).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3"/>
              </a:rPr>
              <a:t>doi:10.1287/trsc.17.1.48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ReVelle, C. &amp; Hogan, K. (1989). The maximum availability location problem. Transportation Science 23(3).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4"/>
              </a:rPr>
              <a:t>doi:10.1287/trsc.23.3.192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Deb, K. et al. (2002). A fast and elitist multiobjective genetic algorithm: NSGA-II. IEEE Trans. Evol. Comput. 6(2).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5"/>
              </a:rPr>
              <a:t>doi:10.1109/4235.996017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Luo, W. &amp; Wang, F. (2003). Measures of spatial accessibility to health care in a GIS environment. Env. &amp; Planning B 30(6).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6"/>
              </a:rPr>
              <a:t>doi:10.1068/b29120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Takeda, R., Widmer, J. &amp; Morabito, R. (2007). Ambulance decentralization… hypercube (SAMU Campinas). Computers &amp; OR 34(3).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7"/>
              </a:rPr>
              <a:t>doi:10.1016/j.cor.2005.03.022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Budge, S., Ingolfsson, A. &amp; Erkut, E. (2009). Approximating vehicle dispatch probabilities… Operations Research 57(1).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8"/>
              </a:rPr>
              <a:t>doi:10.1287/opre.1080.0591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Hora, R. S. et al. (2019). Caracterização do atendimento do SAMU às emergências clínicas. REME 23.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9"/>
              </a:rPr>
              <a:t>doi:10.5935/1415-2762.20190104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Malvestio, M. A. A. &amp; Sousa, R. M. C. (2024). Produção de procedimentos pelo SAMU 192 no Brasil. Ciênc. Saúde Colet. 29(1).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0"/>
              </a:rPr>
              <a:t>doi:10.1590/1413-81232024291.18482022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Feldmeier, M. et al. (2024). Patterns in California ambulance patient offload times. JAMA Netw. Open 7(12).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1"/>
              </a:rPr>
              <a:t>doi:10.1001/jamanetworkopen.2024.51022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"/>
          <p:cNvSpPr/>
          <p:nvPr/>
        </p:nvSpPr>
        <p:spPr>
          <a:xfrm>
            <a:off x="6355080" y="1783080"/>
            <a:ext cx="525744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DATASUS — SIA/SUS, notas técnicas.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2"/>
              </a:rPr>
              <a:t>tabnet.datasus.gov.br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DATASUS — arquivos PASP do SIA (FTP), jan/2024 a jul/2026.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3"/>
              </a:rPr>
              <a:t>ftp.datasus.gov.br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SIGTAP — Tabela Unificada de procedimentos (2026-07).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4"/>
              </a:rPr>
              <a:t>sigtap.datasus.gov.br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CNES — Cadastro Nacional de Estabelecimentos de Saúde (frota e bases).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5"/>
              </a:rPr>
              <a:t>cnes.datasus.gov.br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IBGE — Censo 2022, agregados por setor censitário.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6"/>
              </a:rPr>
              <a:t>ftp.ibge.gov.br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OpenStreetMap — malha de ruas (© colaboradores do OSM).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7"/>
              </a:rPr>
              <a:t>www.openstreetmap.org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Prefeitura de SP — SAMU em 2024 (314.089 atendimentos presenciais).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8"/>
              </a:rPr>
              <a:t>prefeitura.sp.gov.br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Prefeitura de SP — SAMU em 2025 (355.806 atendimentos presenciais).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19"/>
              </a:rPr>
              <a:t>prefeitura.sp.gov.br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Prefeitura de SP — notícia de 21/12/2023 (frota, saídas por dia, tempo de chegada). </a:t>
            </a:r>
            <a:r>
              <a:rPr lang="en-US" sz="1050" b="0" u="sng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  <a:hlinkClick r:id="rId20"/>
              </a:rPr>
              <a:t>prefeitura.sp.gov.br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Código e resultados do projeto: fase2_sao_paulo/ e dados/fase2/*.json; CONTEXTO_PROJETO.md §4.1 e §5.1.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2026-10-02T15:11:26Z</dcterms:created>
  <dc:creator>Grupo MAI5003</dc:creator>
  <dc:description/>
  <dc:language>pt-BR</dc:language>
  <cp:lastModifiedBy/>
  <dcterms:modified xsi:type="dcterms:W3CDTF">2026-10-02T18:16:55Z</dcterms:modified>
  <cp:revision>2</cp:revision>
  <dc:subject>PptxGenJS Presentation</dc:subject>
  <dc:title>Quem atende o chamado? Do modelo de Huff ao despacho real do SAMU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