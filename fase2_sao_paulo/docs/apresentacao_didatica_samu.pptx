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0,1905 calculado e conferido rodando huff2sfca.gini() de verdade sobre este exemplo de 2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25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DIDÁTICO — MAI5003 · PROBABILIDADE E ESTATÍSTICA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9164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calculamos onde colocar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ambulâncias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3101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Huff, 2SFCA e otimização bi-objetivo, do zero, com um exemplo que cabe numa calculadora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8221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Companheiro didático do projeto de realocação de USB/USA em São Paulo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MAI5003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54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3–4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09928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709928" y="18105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× USA, o achado da fase 1, e a hipótese que todo modelo clássico faz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1284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6–10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09928" y="2212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Huff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709928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 termo por termo, o exemplo de duas bases, e os dois limites de β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8712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11–14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09928" y="2871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2SFCA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709928" y="31272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com capacidade — por que "maximizar acesso" é um objetivo vazio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52958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15–17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09928" y="3529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e os dois objetivos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709928" y="37856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de Lorenz, formalmente, e por que Gini sozinho também não basta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1879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18–22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709928" y="4187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709928" y="44439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dominância de Pareto, NSGA-II, o baseline p-median, custo de mudança e λ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846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23–26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709928" y="4846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reais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709928" y="51023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inteira: a fronteira, o achado central, e a sensibilidade em β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504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27–28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709928" y="5504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709928" y="5760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exemplo ensina, além do SAMU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F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números da coluna à esquerda são os slides — use-os para navegar ou apontar uma dúvida durante a aula.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já sabe, e o que vamos construir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087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já traz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011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Probabilidade e distribuições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4688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Otimização (mínimos, restrições)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9260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Regressão e ajuste de curvas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3832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Índices de desigualdade em economia (talvez)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novo hoje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011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Modelo de Huff (escolha probabilística)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468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2SFCA (acessibilidade com capacidade)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9260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NSGA-II (otimização com dois objetivos)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3832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p-median e o algoritmo húngaro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206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plano: um exemplo de brinquedo — duas bases, depois dois setores — que a gente calcula à mão, técnica por técnica, e só então mostra o resultado real (26.889 setores, 1.107 candidatos, São Paulo inteira).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número do exemplo de brinquedo foi conferido contra o código real do projeto antes de entrar neste slide — não é ilustrativo, é reprodutível.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frotas que não são intercambiáveis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08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SAMU opera dois tipos de viatura: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057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— Suporte Básico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de enfermagem + condutor. Atende a maioria dos chamados.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6208" y="18745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2057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— Suporte Avançado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médico e desfibrilador. Só ela atende parada cardiorrespiratória, via aérea difícil, trauma grave.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520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USA sabe fazer o serviço de uma USB. O contrário não vale — e é essa assimetria que torna o problema difícil: o mesmo mapa precisa servir dois públicos com regras diferentes.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2519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4165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achado que motiva o projeto (fase 1, EDA nacional)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7365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40,6 milhões de brasileiros têm uma USB a 20 minutos de distância e nenhuma USA nesse raio. O Gini da frota de USA entre municípios (0,67) é bem maior que o da USB (0,54) — a USA está muito mais mal distribuída.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da fase 1: o problema é de distribuição, não de volume — e isso vira um problema de otimização.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hipótese que todo modelo clássico faz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783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“Toda demanda vai para a unidade mais próxima”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21284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hipótese por trás de quase todo modelo clássico de localização de instalações — o p-median incluído (o modelo que, mais à frente, escolhe onde ficam as bases supondo sempre a mais próxima). Funciona bem para “qual mercado eu frequento”. Para uma ambulância, ignora um detalhe operacional óbvio: a mais próxima pode estar ocupada.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2918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 deste projeto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657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“sempre a mais próxima” (uma escolha determinística) por “provavelmente a mais próxima, mas às vezes não” (uma escolha probabilística). Quem faz essa troca é o modelo de Huff — e é ele que vamos construir agora, com um exemplo de duas bases.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detalhe que já vale adiantar: essa troca de hipótese é exatamente o que este projeto testa — e o resultado, mais à frente, é surpreendente.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BRINQUEDO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exemplo que vamos usar do início ao fim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08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bases, uma ambulância cada: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Ambulâncias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até o setor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993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setor censitário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331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clássica (mais próxima) mandaria 100% dos chamados desse setor para a base A, sempre — mesmo que A esteja ocupada em algum momento.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206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que o modelo de Huff responde: de cada 100 chamados desse setor, quantos realisticamente vão para A, e quantos para B?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(Guarde A a 5 min e B a 10 min — vamos recalcular isso em três slides diferentes, com três ideias diferentes.)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ESCOLHA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fórmula do modelo de Huff, termo por termo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pic>
        <p:nvPicPr>
          <p:cNvPr id="6" name="Image 0" descr="D:\Estudos\MECAI\Disciplinas\Estatística e Probabilidade\Projeto SAMU\samu-usb-usa\figs\fase2\formulas\huff_princip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088" y="1572768"/>
            <a:ext cx="1433178" cy="566928"/>
          </a:xfrm>
          <a:prstGeom prst="rect">
            <a:avLst/>
          </a:prstGeom>
        </p:spPr>
      </p:pic>
      <p:pic>
        <p:nvPicPr>
          <p:cNvPr id="7" name="Image 1" descr="D:\Estudos\MECAI\Disciplinas\Estatística e Probabilidade\Projeto SAMU\samu-usb-usa\figs\fase2\formulas\huff_decaimen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212848"/>
            <a:ext cx="1742181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6928" y="2880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termo, um por um: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 j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3081528" y="31729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é o setor que precisa de ambulância; j é uma base candidata a atender.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236208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buNone/>
            </a:pPr>
            <a:r>
              <a:rPr lang="en-US" sz="1250" b="1" baseline="-40000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pPr indent="0" marL="0">
              <a:buNone/>
            </a:pPr>
            <a:r>
              <a:rPr lang="en-US" sz="125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(capacidade)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750808" y="31729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ambulâncias a base j tem — aqui, 1 em cada base.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(expoente)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081528" y="40873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capacidade extra atrai mais chamados. Aqui α = 1, então S com esse expoente vira o próprio S.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236208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250" b="1" baseline="-40000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ij</a:t>
            </a:r>
            <a:pPr indent="0" marL="0">
              <a:buNone/>
            </a:pPr>
            <a:r>
              <a:rPr lang="en-US" sz="125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(tempo)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750808" y="40873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viagem da base j até o setor i — os 5 min e 10 min do slide anterior.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66928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(escala do decaimento)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3081528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 β, mais devagar a atratividade cai com a distância. É o parâmetro que ainda vamos escolher — próximos dois slides.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236208" y="5029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f(t) (peso)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8750808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entre 0 e 1 — 1 se t=0 (base no mesmo lugar), cai conforme t cresce.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566928" y="58064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inteira é um softmax: cada base recebe uma pontuação (o numerador), e a probabilidade é essa pontuação dividida pela soma das pontuações de todas as bases (o denominador) — o que garante que as probabilidades de um mesmo setor somem sempre 100%.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ESCOLHA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Aplicando a fórmula ao exemplo de duas bases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slide 6: base A a 5 min, base B a 10 min, S_A = S_B = 1, α = 1. Falta só escolher β — usamos β = 4,5 min, o mesmo valor do projeto real: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Primeiro, o denominador do decaimento:</a:t>
            </a:r>
            <a:endParaRPr lang="en-US" sz="1250" dirty="0"/>
          </a:p>
        </p:txBody>
      </p:sp>
      <p:pic>
        <p:nvPicPr>
          <p:cNvPr id="8" name="Image 0" descr="D:\Estudos\MECAI\Disciplinas\Estatística e Probabilidade\Projeto SAMU\samu-usb-usa\figs\fase2\formulas\beta_sub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2212848"/>
            <a:ext cx="2289582" cy="29260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377440"/>
                <a:gridCol w="3566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f(t) = exp(−t²/40,5)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P(j|i) = pontuação/soma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exp(−25/40,5) = 0,540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0,540 / 0,625 = 86,4%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quase sempre, mas não sempre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10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exp(−100/40,5) = 0,085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0,085 / 0,625 = 13,6%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alternativa, quando A está ocupada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66928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Confira: 86,4% + 13,6% = 100% — exatamente a garantia do softmax do slide anterior. Sem capacidade e sem β, isto degenera na regra clássica — os próximos dois slides mostram por quê, formalmente.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ESCOLHA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limites de β, formalmente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8249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→ 0 : vira a regra clássica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03911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f(t) = exp(−t²/2β²) → 0 para qualquer t &gt; 0 quando β→0, mas f(0) = 1 sempre. Só a base com o MENOR t sobra com peso — todas as outras somem. P(j|i) vira um indicador: 100% para a mais próxima, 0% para o resto.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07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 é exatamente o modelo p-median: escolher bases e servir cada setor sempre pela escolhida mais próxima, sem noção de capacidade. Definição completa no slide 20.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867912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40142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→ ∞ : vira escolha uniforme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3708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β→∞, o termo t²/2β² → 0 para QUALQUER t finito — logo f(t) → exp(0) = 1 para todas as bases, perto ou longe. Com capacidades iguais, todas as probabilidades ficam iguais.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52395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distância deixa de importar completamente — o setor escolhe qualquer base ao acaso dentro do raio de captação.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ESCOLHA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β = 4,5 min, e por que 2,2 unidades efetivas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pic>
        <p:nvPicPr>
          <p:cNvPr id="6" name="Image 0" descr="D:\Estudos\MECAI\Disciplinas\Estatística e Probabilidade\Projeto SAMU\samu-usb-usa\figs\fase2\formulas\n_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54480"/>
            <a:ext cx="1374851" cy="6217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61888" y="16002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opções o setor i tem "na prática": 1 se toda probabilidade está numa base só; k se está dividida igualmente entre k bases.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423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~2, e não 1 ou 7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278892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61288" y="276148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N_ef = 1 seria a hipótese ingênua de novo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61288" y="30358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Voltaria exatamente ao slide 5: sempre a mesma base, nunca uma segunda opção — como se a mais próxima nunca estivesse ocupada.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368503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61288" y="36576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N_ef = 7 assumiria distância quase irrelevante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61288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Diria que qualquer uma entre 7 bases, algumas bem mais longe, tem chance real de atender — exagero na direção oposta.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4581144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4581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61288" y="455371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N_ef ≈ 2 modela "a mais próxima, e tipicamente mais uma"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61288" y="48280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 operacional realista: quando a mais próxima está ocupada, geralmente existe UMA alternativa razoável por perto — nem zero, nem várias.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58064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isso β = 4,5 min: no dado real de São Paulo, é o valor que produz N_ef ≈ 2,2 mediano entre os setores. É uma escolha de engenharia — arbitrada, não estimada de dado real de despacho; testamos a sensibilidade a essa escolha no slide 26.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2SFCA — O PROBLEMA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problema que só aparece com mais de um setor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361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quem atende um setor não é o mesmo que saber se ele está bem servido — depende de quantos OUTROS setores também disputam a mesma base.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86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Acrescentando o setor 2 ao exemplo: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194560"/>
                <a:gridCol w="219456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até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até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P(A) / P(B) — mesma fórmula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86,4% / 13,6%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0,7% / 99,3%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1605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43159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nova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4617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A recebe 86,4% do setor 1 (867 pessoas) e só 0,7% do setor 2 (14 pessoas). A base B recebe 13,6% do setor 1 (136) e 99,3% do setor 2 (1.986). Quem está mais sobrecarregada, A ou B? E o setor 1 está bem servido, ou está "emprestando" a base A para o setor 2?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esta contabilidade que o 2SFCA (Two-Step Floating Catchment Area) resolve, em duas etapas.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2SFCA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1 — quanta gente disputa cada 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pic>
        <p:nvPicPr>
          <p:cNvPr id="6" name="Image 0" descr="D:\Estudos\MECAI\Disciplinas\Estatística e Probabilidade\Projeto SAMU\samu-usb-usa\figs\fase2\formulas\sfca_pres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572768"/>
            <a:ext cx="2186848" cy="457200"/>
          </a:xfrm>
          <a:prstGeom prst="rect">
            <a:avLst/>
          </a:prstGeom>
        </p:spPr>
      </p:pic>
      <p:pic>
        <p:nvPicPr>
          <p:cNvPr id="7" name="Image 1" descr="D:\Estudos\MECAI\Disciplinas\Estatística e Probabilidade\Projeto SAMU\samu-usb-usa\figs\fase2\formulas\sfca_raz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016" y="1554480"/>
            <a:ext cx="1233291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" y="19933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D_i = população do setor i  ·  P(j|i) = probabilidade de Huff (slide 7)  ·  S_j = ambulâncias na base j  ·  R_j = razão oferta/demanda da base j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2377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Some, para cada base, a fatia de demanda que o Huff manda para ela vinda de TODOS os setores: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4320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Pressão (pessoas)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R_j = ambulâncias / pressão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 + 14 = 878,7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878,7 = 0,00114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 + 1.986 = 2.121,1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2.121,1 = 0,00047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589520" y="27432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845552" y="290779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R_j é o coração do 2SFCA: quanto MAIOR a pressão sobre uma base, MENOR a fatia que sobra por pessoa.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7845552" y="37490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o termo que a regra “sempre a mais próxima” não tem: ela nunca pergunta quem mais disputa a mesma base.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566928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 soma: 878,7 + 2.121,1 = 3.000 — exatamente a população total. O Huff reparte gente, não cria nem perde ninguém no caminho.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2SFCA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2 — a acessibilidade de cada setor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pic>
        <p:nvPicPr>
          <p:cNvPr id="6" name="Image 0" descr="D:\Estudos\MECAI\Disciplinas\Estatística e Probabilidade\Projeto SAMU\samu-usb-usa\figs\fase2\formulas\sfca_acessibilid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08760"/>
            <a:ext cx="1755909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61888" y="1508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probabilidade de Huff P(j|i) e a razão R_j da etapa 1 — agora somadas do ponto de vista do setor.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240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essas razões vistas do setor, com o MESMO peso de escolha da etapa 1: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06040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Acessibilidade A_i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0,864×0,00114 + 0,136×0,00047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0,001048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0,007×0,00114 + 0,993×0,00047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0,000476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955280" y="260604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11312" y="2788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1 tem 2,2× a acessibilidade por pessoa do setor 2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35204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as duas bases sendo as mesmas — só a composição da demanda ao redor de cada setor muda o resultado.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" y="49834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41248" y="5138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identidade que vale sempre (não só neste exemplo)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" y="546811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1.000×0,001048 + 2.000×0,000476 = 1,048 + 0,952 = 2,000 — exatamente as 2 ambulâncias do exemplo. Some (população × acessibilidade) em TODOS os setores, e o resultado é sempre a frota total, não importa como ela esteja distribuída. Isto tem uma consequência importante — próximo slide.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2SFCA — A CONSEQUÊNCIA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“maximizar o acesso” é um objetivo vazio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783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(população × acessibilidade) = frota total, SEMPRE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2128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importa onde você põe as ambulâncias — 2 no exemplo, 123 no projeto real — essa soma dá sempre o mesmo número.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0632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consequência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4015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“Acessibilidade média” é uma constante em relação a qualquer coisa que você otimize — tentar maximizá-la é como tentar maximizar o número 2. Realocar ambulâncias não cria acesso novo: só redistribui o que já existe.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3434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sobra para otimizar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68172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como o acesso está distribuído: igual para todos, ou concentrado em poucos setores? Essa forma tem nome em estatística — e é o próximo slide.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(Esta é a Proposição 1 de matematica_usb_usa.html §3.6 — a demonstração são três linhas de álgebra, a mesma conta que você acabou de fazer com 2 setores.)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OBJETIVOS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curva de Lorenz e o índice de Gini, formalmente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 as unidades (aqui, setores) da pior acessibilidade para a melhor, e acumule: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pic>
        <p:nvPicPr>
          <p:cNvPr id="7" name="Image 0" descr="D:\Estudos\MECAI\Disciplinas\Estatística e Probabilidade\Projeto SAMU\samu-usb-usa\figs\fase2\formulas\lorenz_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88" y="1920240"/>
            <a:ext cx="2720788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" y="2377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X_k = fração acumulada da população até a k-ésima unidade nessa ordem  ·  Y_k = fração acumulada da acessibilidade (A = acessibilidade da etapa 2 do 2SFCA)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926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de Lorenz é o gráfico de (X_k, Y_k). O índice de Gini resume essa curva num só número: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2918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pic>
        <p:nvPicPr>
          <p:cNvPr id="11" name="Image 1" descr="D:\Estudos\MECAI\Disciplinas\Estatística e Probabilidade\Projeto SAMU\samu-usb-usa\figs\fase2\formulas\lorenz_gin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3364992"/>
            <a:ext cx="2925204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30768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área sob a curva, pela regra do trapézio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40233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41248" y="416966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0 e 1 significam — antes de calcular qualquer coisa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" y="4480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todas as unidades tivessem a MESMA acessibilidade, a curva coincidiria com a diagonal (X_k = Y_k sempre) e Gini = 0. Se uma única unidade tivesse tudo e o resto nada, a curva colaria no eixo até o fim e Gini = 1. É a mesma medida usada para desigualdade de renda — aqui aplicada a “ambulâncias por habitante”.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slide: aplicando isto ao exemplo dos dois setores.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OBJETIVOS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Calculando o Gini no exemplo dos dois setores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2 é pior servido (A menor) — ordena primeiro. Aplicando X_k, Y_k do slide anterior: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5852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X_k (pop. acum.)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Y_k (acesso acum.)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 2 (pior)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 1 (melhor)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1828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39712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fosse tudo igual...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39712" y="2304288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 curva coincidiria com a diagonal (66,7% da população teria exatamente 66,7% do acesso). Quanto mais a curva real afunda abaixo da diagonal, maior a desigualdade.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40233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" y="41879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Gini = 1 − [(0,667−0)(0,476+0) + (1−0,667)(1+0,476)] = 1 − 0,809 = 0,1905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4617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Gini de ~0,19 para dois setores com uma razão de acessibilidade de 2,2 para 1 — moderado. O Gini real do projeto (26.889 setores) usa a mesma fórmula, e chega a 0,224 na configuração atual de São Paulo.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OBJETIVOS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Gini sozinho também não basta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745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74650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tempo → esquece capacidade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09397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só o tempo até a mais próxima é o que o p-median clássico faz. Ignora completamente quem disputa cada base — é voltar à hipótese que abandonamos no slide 5.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2004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47472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34670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Gini → prefere concentrar tudo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694176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as duas ambulâncias na MESMA base zera o Gini (todo setor recebe a mesma coisa: nada de perto). Perfeitamente igual, e perfeitamente inútil — o tempo de resposta explode.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objetivo, sozinho, tem uma solução ótima e inútil. Só os DOIS juntos — minimizar tempo E minimizar Gini — têm conteúdo real de decisão. Como não existe uma única configuração que minimize ambos ao mesmo tempo, o que existe é uma FAMÍLIA de soluções — a fronteira de Pareto, que vem a seguir.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MULTIOBJETIVO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soluções com dois objetivos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276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domina B  ⟺  A é pelo menos tão bom quanto B em TODOS os objetivos, e estritamente melhor em PELO MENOS UM.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395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a um mock com 4 configurações hipotéticas de frota: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43200"/>
          <a:ext cx="5760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(min)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0" y="2743200"/>
            <a:ext cx="4754880" cy="3200400"/>
          </a:xfrm>
          <a:prstGeom prst="roundRect">
            <a:avLst>
              <a:gd name="adj" fmla="val 2857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14032" y="290779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é dominada por X: X é melhor nos DOIS eixos (7,0&lt;8,0 e 0,15&lt;0,30). Pela regra acima, ninguém escolheria W.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114032" y="370332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e Z não se dominam entre si: cada uma ganha em um eixo e perde no outro. As três formam a fronteira de Pareto — o conjunto de soluções “razoáveis”.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114032" y="480060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entre X, Y e Z é uma decisão de valor (quanto tempo você troca por quanto de equidade) — não uma conta que o modelo resolve sozinho.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MULTIOBJETIVO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encontrar a fronteira quando há 10¹⁹¹ opções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tamanho real do problema: 1.107 candidatos, 123 ambulâncias, repetição permitida. Não dá para testar todas as combinações — nem perto.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61288" y="212140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população de soluções, não uma só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3957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NSGA-II mantém 80 configurações candidatas ao mesmo tempo, cada uma um vetor de 123 posições (uma por ambulância).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04495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" y="301752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pelas regras do slide 18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3291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por dominância (camada 1 = não dominada por ninguém, camada 2 = o resto etc.) e mantém as mais promissoras.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941064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" y="39136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 localmente, como um SAMU de verdade faria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418795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das mutações movem uma ambulância para um candidato VIZINHO geográfico — não para qualquer ponto da cidade.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837176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4837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48097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por 150 gerações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" y="508406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geração, a fronteira de soluções mantidas melhora — como uma seleção natural apontada para os dois objetivos.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há garantia de achar o ótimo exato — só de convergir para perto dele. É por isso que o próximo slide (o baseline clássico) importa: ele confere se o NSGA-II está indo bem.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BASELINE CLÁSSICO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de comparação: p-median, formalmente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pic>
        <p:nvPicPr>
          <p:cNvPr id="6" name="Image 0" descr="D:\Estudos\MECAI\Disciplinas\Estatística e Probabilidade\Projeto SAMU\samu-usb-usa\figs\fase2\formulas\pmedian_ob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088" y="1508760"/>
            <a:ext cx="1696017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1965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as bases fixas antecipadamente; cada setor i é servido pela ESCOLHIDA mais próxima (min_j t_ij); minimize a distância média, ponderada pela população D_i. N = número de bases.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331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o limite β → 0 do modelo de Huff (slide 9): nenhuma probabilidade, nenhuma capacidade — só a mais próxima, sempre.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2743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" y="2880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ele importa aqui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3182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NSGA-II (uma heurística, sem garantias) encontrar uma solução PIOR que o p-median no eixo do tempo, algo está errado na busca. Vira um sinal de sanidade — e a pergunta científica do projeto: quanto o modelo de Huff muda a resposta ótima?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977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detalhe que fez diferença de verdade no projeto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42976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começar a busca do NSGA-II a partir da solução do p-median (“semear”), o algoritmo evolutivo na verdade PERDIA para o p-median: 6,77 contra 6,70 min. Com a semente, o NSGA-II passou a bater os dois pontos de partida: 6,64 min. Moral: comparar heurística nova com clássica só é honesto se a nova começar de onde a clássica já chegou.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F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(Resolvido, na prática, por construção gulosa + troca de vértices — o mesmo tipo de heurística usado em muitos problemas de otimização combinatória.)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MUDANÇA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custa sair da rede de hoje para a nova?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00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atribuição, em uma frase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9019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um custo para cada par possível de origem-destino, encontrar a correspondência 1-para-1 (cada origem com exatamente um destino) que MINIMIZA A SOMA dos custos — resolvido de forma exata pelo algoritmo húngaro, o mesmo usado em logística e transporte ótimo.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606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basta contar quantas ambulâncias mudam de lugar — importa QUANTO ELAS ANDAM. Mover para a esquina é barato; atravessar a cidade não.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54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mini-exemplo: 2 ambulâncias mudando de par de bases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7472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A ou B (hoje)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ambulância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ambulância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863840" y="347472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92440" y="3657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2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A→C e B→D: 3+2 = 5 km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2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A→D e B→C: 9+8 = 17 km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5262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acima escolhe a combinação de menor custo total — aqui, 5 km, não 17.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5577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8A8F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projeto real, compara 123 origens com 123 destinos em milissegundos. Ambulâncias que já estão no lugar certo são descontadas ANTES do emparelhamento — mudar tudo e depois “cancelar” quem ficou daria o mesmo resultado, mas custaria mais conta.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λ: o preço da mudança, em minutos por quilômetro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pic>
        <p:nvPicPr>
          <p:cNvPr id="6" name="Image 0" descr="D:\Estudos\MECAI\Disciplinas\Estatística e Probabilidade\Projeto SAMU\samu-usb-usa\figs\fase2\formulas\lambda_ob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28" y="1737360"/>
            <a:ext cx="259309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423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converte quilômetros em minutos equivalentes, e soma essa penalidade ao primeiro objetivo. O segundo objetivo (Gini) não muda.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3017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3182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 — redesenho livre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4930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custa zero. O otimizador realoca o que quiser, sem se importar com o tamanho da mudança.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6208" y="30175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10528" y="3182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alto — rede quase congelada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10528" y="34930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km custa caro em tempo equivalente. O otimizador só aceita as mudanças que compensam muito.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4434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valor de λ gera sua PRÓPRIA fronteira de Pareto inteira (não um ponto só). Variar λ produz a curva “quanto de ganho cada km de mudança compra” — que é exatamente o que os resultados reais mostram a seguir.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5349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isso, temos todas as peças: Huff (quem atende quem), 2SFCA (acessibilidade), Gini (desigualdade), NSGA-II (busca), p-median (comparação) e λ (preço da mudança). Hora dos números reais.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029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COM DADOS REAIS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5895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2 bases para 1.107, de 2 setores para 26.889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26.889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517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censitários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São Paulo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355848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1.107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26517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a base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(CNES)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144768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26517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ambulâncias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USB + 16 USA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933688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933688" y="26517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locais ocupados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931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configuração de hoje: E[T] = 7,44 min, Gini = 0,224. É a linha de base contra a qual todo ganho abaixo é medido.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9FB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o resto do modelo — Huff, 2SFCA, NSGA-II, p-median, λ — é exatamente o que acabamos de calcular à mão, só que em escala real.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REAL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unidades e 48 km cortam 75% da desigualdade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pic>
        <p:nvPicPr>
          <p:cNvPr id="5" name="Image 0" descr="D:\Estudos\MECAI\Disciplinas\Estatística e Probabilidade\Projeto SAMU\samu-usb-usa\figs\fase2\sp_02_ganho_k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08760"/>
            <a:ext cx="667512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06640" y="16916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do gráfico é o “joelho” da fronteira de Pareto para um λ — a mesma ideia do slide 18, só que com uma frente de verdade em vez de 4 pontos hipotéticos.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406640" y="278892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62672" y="297180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10 das 123 unidades (48 km) já entrega a maior parte do ganho de equidade possível — a curva tem retorno decrescente.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4754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Gini: 0,224 → 0,057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5257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Doze decisões administrativas, nenhuma obra, nenhuma compra.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REAL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achado central: onde o modelo de Huff realmente ajuda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pic>
        <p:nvPicPr>
          <p:cNvPr id="5" name="Image 0" descr="D:\Estudos\MECAI\Disciplinas\Estatística e Probabilidade\Projeto SAMU\samu-usb-usa\figs\fase2\sp_05_compar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08760"/>
            <a:ext cx="676656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6002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45552" y="17647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Surpresa: Huff quase não muda a eficiência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2860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pela regra clássica (slide 5) custa só −0,2% de tempo esperado a mais. O p-median é robusto à hipótese que passamos a aula inteira tentando derrubar.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89520" y="342900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45552" y="35935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o 2SFCA enxerga algo que o p-median não vê: capacidade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45552" y="41148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0,028 contra 0,079 do p-median — 2,8× melhor — com MENOS deslocamento (289 km contra 386 km).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tese do projeto não é “chegamos mais rápido”. É “distribuímos a carga de forma muito mais equânime, no mesmo tempo”.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REAL 3 — SENSIBILIDADE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achado sobrevive fora de β = 4,5?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pic>
        <p:nvPicPr>
          <p:cNvPr id="6" name="Image 0" descr="D:\Estudos\MECAI\Disciplinas\Estatística e Probabilidade\Projeto SAMU\samu-usb-usa\figs\fase2\formulas\rho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8688" y="1490472"/>
            <a:ext cx="2470301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1920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 do ganho de equidade MÁXIMO POSSÍVEL naquele β (o piso é λ=0, redesenho livre) que λ entrega. Normalizado por β porque Gini_atual(β) muda com β — a "tabela barata" do slide 10.</a:t>
            </a:r>
            <a:endParaRPr lang="en-US" sz="10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28600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E[T] (min)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movidas /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ρ_G (λ=1)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/ 50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48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22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7F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1605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" y="42976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a recomendação não depende da escolha exata de β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41248" y="4617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foi escolhido por argumento (slide 10), não estimado de despacho real. Repetimos toda a otimização para β = 2 e β = 8,5, além do padrão. Em todos, λ = 1 entrega pelo menos 55% do ganho de equidade alcançável.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0F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é o tipo de pergunta que estatística sempre faz de um modelo: o resultado é robusto à escolha de um parâmetro que não foi medido? Aqui, testamos — e é assim que se testa.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DA AULA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este exemplo ensina, além do SAMU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8836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probabilística &gt; regra determinística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213969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“a opção mais próxima/barata/rápida” pode estar indisponível, um modelo tipo Huff (softmax com decaimento) é mais realista que a regra do mínimo.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64592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90195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188366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muda o resultado, mesmo com a mesma demanda total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213969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2SFCA mostrou dois setores com a mesma distância às mesmas bases, mas acessibilidade bem diferente — só por causa de quem MAIS disputa cada base.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3832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63931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62102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objetivo constante é um objetivo inútil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387705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“Maximizar acesso” parecia razoável até a álgebra mostrar que é uma constante. Vale sempre conferir se o que você está otimizando de fato varia.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6208" y="33832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63931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3621024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 sensibilidade a qualquer parâmetro arbitrado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3877056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nunca foi medido de dado real — foi arbitrado. Testar contra outros valores é o mínimo antes de confiar na conclusão.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120640" cy="512064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26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FECHAR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exemplo de duas bases a São Paulo inteira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58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 + 2SFCA trocam uma hipótese, não um algoritmo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420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mudança real é modelar demanda como probabilidade, com capacidade — tudo o mais (Gini, NSGA-II, λ) monta em cima disso.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429000"/>
            <a:ext cx="420624" cy="42062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01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real confirma a intuição do exemplo pequeno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6850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equidade grande e barato (Gini 0,224→0,028), quase sem custo de tempo — exatamente o padrão de retorno decrescente que a matemática já sugeria.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572000"/>
            <a:ext cx="420624" cy="42062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544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sensibilidade é parte do método, não um extra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8280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B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2, 4,5 e 8,5 dão a mesma recomendação qualitativa — é isso que torna o achado defensável.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didático do grupo MAI5003 — código, dados e o deck de resultados completo em fase2_sao_paulo/.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calculamos onde colocar as ambulâncias — deck didático</dc:title>
  <dc:subject>PptxGenJS Presentation</dc:subject>
  <dc:creator>Grupo MAI5003</dc:creator>
  <cp:lastModifiedBy>Grupo MAI5003</cp:lastModifiedBy>
  <cp:revision>1</cp:revision>
  <dcterms:created xsi:type="dcterms:W3CDTF">2026-09-19T04:14:31Z</dcterms:created>
  <dcterms:modified xsi:type="dcterms:W3CDTF">2026-09-19T04:14:31Z</dcterms:modified>
</cp:coreProperties>
</file>